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366F1"/>
          </a:solidFill>
          <a:ln w="12700">
            <a:solidFill>
              <a:srgbClr val="6366F1"/>
            </a:solidFill>
            <a:prstDash val="solid"/>
          </a:ln>
        </p:spPr>
      </p:sp>
      <p:sp>
        <p:nvSpPr>
          <p:cNvPr id="3" name="Text 1"/>
          <p:cNvSpPr/>
          <p:nvPr/>
        </p:nvSpPr>
        <p:spPr>
          <a:xfrm>
            <a:off x="457200" y="777240"/>
            <a:ext cx="8229600" cy="100584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Superset Embedding</a:t>
            </a:r>
            <a:endParaRPr lang="en-US" sz="4600" dirty="0"/>
          </a:p>
        </p:txBody>
      </p:sp>
      <p:sp>
        <p:nvSpPr>
          <p:cNvPr id="4" name="Shape 2"/>
          <p:cNvSpPr/>
          <p:nvPr/>
        </p:nvSpPr>
        <p:spPr>
          <a:xfrm>
            <a:off x="457200" y="1965960"/>
            <a:ext cx="2286000" cy="402336"/>
          </a:xfrm>
          <a:prstGeom prst="rect">
            <a:avLst/>
          </a:prstGeom>
          <a:solidFill>
            <a:srgbClr val="FF3E00"/>
          </a:solidFill>
          <a:ln w="12700">
            <a:solidFill>
              <a:srgbClr val="FF3E00"/>
            </a:solidFill>
            <a:prstDash val="solid"/>
          </a:ln>
        </p:spPr>
      </p:sp>
      <p:sp>
        <p:nvSpPr>
          <p:cNvPr id="5" name="Text 3"/>
          <p:cNvSpPr/>
          <p:nvPr/>
        </p:nvSpPr>
        <p:spPr>
          <a:xfrm>
            <a:off x="457200" y="1965960"/>
            <a:ext cx="22860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SvelteKit Frontend</a:t>
            </a:r>
            <a:endParaRPr lang="en-US" sz="1300" dirty="0"/>
          </a:p>
        </p:txBody>
      </p:sp>
      <p:sp>
        <p:nvSpPr>
          <p:cNvPr id="6" name="Shape 4"/>
          <p:cNvSpPr/>
          <p:nvPr/>
        </p:nvSpPr>
        <p:spPr>
          <a:xfrm>
            <a:off x="2926080" y="1965960"/>
            <a:ext cx="2286000" cy="402336"/>
          </a:xfrm>
          <a:prstGeom prst="rect">
            <a:avLst/>
          </a:prstGeom>
          <a:solidFill>
            <a:srgbClr val="00ACD7"/>
          </a:solidFill>
          <a:ln w="12700">
            <a:solidFill>
              <a:srgbClr val="00ACD7"/>
            </a:solidFill>
            <a:prstDash val="solid"/>
          </a:ln>
        </p:spPr>
      </p:sp>
      <p:sp>
        <p:nvSpPr>
          <p:cNvPr id="7" name="Text 5"/>
          <p:cNvSpPr/>
          <p:nvPr/>
        </p:nvSpPr>
        <p:spPr>
          <a:xfrm>
            <a:off x="2926080" y="1965960"/>
            <a:ext cx="22860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 Backend</a:t>
            </a:r>
            <a:endParaRPr lang="en-US" sz="1300" dirty="0"/>
          </a:p>
        </p:txBody>
      </p:sp>
      <p:sp>
        <p:nvSpPr>
          <p:cNvPr id="8" name="Shape 6"/>
          <p:cNvSpPr/>
          <p:nvPr/>
        </p:nvSpPr>
        <p:spPr>
          <a:xfrm>
            <a:off x="5394960" y="1965960"/>
            <a:ext cx="2286000" cy="402336"/>
          </a:xfrm>
          <a:prstGeom prst="rect">
            <a:avLst/>
          </a:prstGeom>
          <a:solidFill>
            <a:srgbClr val="6366F1"/>
          </a:solidFill>
          <a:ln w="12700">
            <a:solidFill>
              <a:srgbClr val="6366F1"/>
            </a:solidFill>
            <a:prstDash val="solid"/>
          </a:ln>
        </p:spPr>
      </p:sp>
      <p:sp>
        <p:nvSpPr>
          <p:cNvPr id="9" name="Text 7"/>
          <p:cNvSpPr/>
          <p:nvPr/>
        </p:nvSpPr>
        <p:spPr>
          <a:xfrm>
            <a:off x="5394960" y="1965960"/>
            <a:ext cx="22860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JWT Security</a:t>
            </a:r>
            <a:endParaRPr lang="en-US" sz="1300" dirty="0"/>
          </a:p>
        </p:txBody>
      </p:sp>
      <p:sp>
        <p:nvSpPr>
          <p:cNvPr id="10" name="Text 8"/>
          <p:cNvSpPr/>
          <p:nvPr/>
        </p:nvSpPr>
        <p:spPr>
          <a:xfrm>
            <a:off x="457200" y="2606040"/>
            <a:ext cx="8046720" cy="1005840"/>
          </a:xfrm>
          <a:prstGeom prst="rect">
            <a:avLst/>
          </a:prstGeom>
          <a:noFill/>
          <a:ln/>
        </p:spPr>
        <p:txBody>
          <a:bodyPr wrap="square" lIns="0" tIns="0" rIns="0" bIns="0" rtlCol="0" anchor="ctr"/>
          <a:lstStyle/>
          <a:p>
            <a:pPr algn="l" indent="0" marL="0">
              <a:buNone/>
            </a:pPr>
            <a:r>
              <a:rPr lang="en-US" sz="1250" dirty="0">
                <a:solidFill>
                  <a:srgbClr val="94A3B8"/>
                </a:solidFill>
                <a:latin typeface="Calibri" pitchFamily="34" charset="0"/>
                <a:ea typeface="Calibri" pitchFamily="34" charset="-122"/>
                <a:cs typeface="Calibri" pitchFamily="34" charset="-120"/>
              </a:rPr>
              <a:t>Apache Superset dashboards are embedded inside a SvelteKit web app as an iframe. A Go backend acts as the security layer: it is the only service that holds Superset admin credentials and issues short-lived guest JWTs to the browser. The browser never sees admin credentials.</a:t>
            </a:r>
            <a:endParaRPr lang="en-US" sz="1250" dirty="0"/>
          </a:p>
        </p:txBody>
      </p:sp>
      <p:sp>
        <p:nvSpPr>
          <p:cNvPr id="11" name="Text 9"/>
          <p:cNvSpPr/>
          <p:nvPr/>
        </p:nvSpPr>
        <p:spPr>
          <a:xfrm>
            <a:off x="457200" y="4526280"/>
            <a:ext cx="5486400" cy="320040"/>
          </a:xfrm>
          <a:prstGeom prst="rect">
            <a:avLst/>
          </a:prstGeom>
          <a:noFill/>
          <a:ln/>
        </p:spPr>
        <p:txBody>
          <a:bodyPr wrap="square" lIns="0" tIns="0" rIns="0" bIns="0" rtlCol="0" anchor="ctr"/>
          <a:lstStyle/>
          <a:p>
            <a:pPr algn="l" indent="0" marL="0">
              <a:buNone/>
            </a:pPr>
            <a:r>
              <a:rPr lang="en-US" sz="1100" dirty="0">
                <a:solidFill>
                  <a:srgbClr val="9AA5B4"/>
                </a:solidFill>
                <a:latin typeface="Calibri" pitchFamily="34" charset="0"/>
                <a:ea typeface="Calibri" pitchFamily="34" charset="-122"/>
                <a:cs typeface="Calibri" pitchFamily="34" charset="-120"/>
              </a:rPr>
              <a:t>github.com/yujuism/superset-embed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Stack</a:t>
            </a:r>
            <a:endParaRPr lang="en-US" sz="2400" dirty="0"/>
          </a:p>
        </p:txBody>
      </p:sp>
      <p:sp>
        <p:nvSpPr>
          <p:cNvPr id="4" name="Shape 2"/>
          <p:cNvSpPr/>
          <p:nvPr/>
        </p:nvSpPr>
        <p:spPr>
          <a:xfrm>
            <a:off x="182880" y="868680"/>
            <a:ext cx="1572768" cy="35204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182880" y="868680"/>
            <a:ext cx="1572768" cy="201168"/>
          </a:xfrm>
          <a:prstGeom prst="rect">
            <a:avLst/>
          </a:prstGeom>
          <a:solidFill>
            <a:srgbClr val="FF3E00"/>
          </a:solidFill>
          <a:ln w="12700">
            <a:solidFill>
              <a:srgbClr val="FF3E00"/>
            </a:solidFill>
            <a:prstDash val="solid"/>
          </a:ln>
        </p:spPr>
      </p:sp>
      <p:sp>
        <p:nvSpPr>
          <p:cNvPr id="6" name="Text 4"/>
          <p:cNvSpPr/>
          <p:nvPr/>
        </p:nvSpPr>
        <p:spPr>
          <a:xfrm>
            <a:off x="274320" y="1143000"/>
            <a:ext cx="1389888" cy="4114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SvelteKit</a:t>
            </a:r>
            <a:endParaRPr lang="en-US" sz="1300" dirty="0"/>
          </a:p>
        </p:txBody>
      </p:sp>
      <p:sp>
        <p:nvSpPr>
          <p:cNvPr id="7" name="Text 5"/>
          <p:cNvSpPr/>
          <p:nvPr/>
        </p:nvSpPr>
        <p:spPr>
          <a:xfrm>
            <a:off x="274320" y="1581912"/>
            <a:ext cx="1389888"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port 5173</a:t>
            </a:r>
            <a:endParaRPr lang="en-US" sz="1000" dirty="0"/>
          </a:p>
        </p:txBody>
      </p:sp>
      <p:sp>
        <p:nvSpPr>
          <p:cNvPr id="8" name="Text 6"/>
          <p:cNvSpPr/>
          <p:nvPr/>
        </p:nvSpPr>
        <p:spPr>
          <a:xfrm>
            <a:off x="274320" y="1920240"/>
            <a:ext cx="1389888" cy="228600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Frontend framework (SSR + CSR). Renders KPI cards from its own code and mounts the Superset iframe inside the page. Reads env vars for backend and Superset URLs.</a:t>
            </a:r>
            <a:endParaRPr lang="en-US" sz="950" dirty="0"/>
          </a:p>
        </p:txBody>
      </p:sp>
      <p:sp>
        <p:nvSpPr>
          <p:cNvPr id="9" name="Shape 7"/>
          <p:cNvSpPr/>
          <p:nvPr/>
        </p:nvSpPr>
        <p:spPr>
          <a:xfrm>
            <a:off x="1956816" y="868680"/>
            <a:ext cx="1572768" cy="35204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1956816" y="868680"/>
            <a:ext cx="1572768" cy="201168"/>
          </a:xfrm>
          <a:prstGeom prst="rect">
            <a:avLst/>
          </a:prstGeom>
          <a:solidFill>
            <a:srgbClr val="00ACD7"/>
          </a:solidFill>
          <a:ln w="12700">
            <a:solidFill>
              <a:srgbClr val="00ACD7"/>
            </a:solidFill>
            <a:prstDash val="solid"/>
          </a:ln>
        </p:spPr>
      </p:sp>
      <p:sp>
        <p:nvSpPr>
          <p:cNvPr id="11" name="Text 9"/>
          <p:cNvSpPr/>
          <p:nvPr/>
        </p:nvSpPr>
        <p:spPr>
          <a:xfrm>
            <a:off x="2048256" y="1143000"/>
            <a:ext cx="1389888" cy="4114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Go</a:t>
            </a:r>
            <a:endParaRPr lang="en-US" sz="1300" dirty="0"/>
          </a:p>
        </p:txBody>
      </p:sp>
      <p:sp>
        <p:nvSpPr>
          <p:cNvPr id="12" name="Text 10"/>
          <p:cNvSpPr/>
          <p:nvPr/>
        </p:nvSpPr>
        <p:spPr>
          <a:xfrm>
            <a:off x="2048256" y="1581912"/>
            <a:ext cx="1389888"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port 3000</a:t>
            </a:r>
            <a:endParaRPr lang="en-US" sz="1000" dirty="0"/>
          </a:p>
        </p:txBody>
      </p:sp>
      <p:sp>
        <p:nvSpPr>
          <p:cNvPr id="13" name="Text 11"/>
          <p:cNvSpPr/>
          <p:nvPr/>
        </p:nvSpPr>
        <p:spPr>
          <a:xfrm>
            <a:off x="2048256" y="1920240"/>
            <a:ext cx="1389888" cy="228600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Lightweight HTTP server. The only service holding Superset admin credentials. Issues guest tokens on demand, caches them for 4 min, and enforces CORS per-origin.</a:t>
            </a:r>
            <a:endParaRPr lang="en-US" sz="950" dirty="0"/>
          </a:p>
        </p:txBody>
      </p:sp>
      <p:sp>
        <p:nvSpPr>
          <p:cNvPr id="14" name="Shape 12"/>
          <p:cNvSpPr/>
          <p:nvPr/>
        </p:nvSpPr>
        <p:spPr>
          <a:xfrm>
            <a:off x="3730752" y="868680"/>
            <a:ext cx="1572768" cy="35204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3730752" y="868680"/>
            <a:ext cx="1572768" cy="201168"/>
          </a:xfrm>
          <a:prstGeom prst="rect">
            <a:avLst/>
          </a:prstGeom>
          <a:solidFill>
            <a:srgbClr val="44B0FF"/>
          </a:solidFill>
          <a:ln w="12700">
            <a:solidFill>
              <a:srgbClr val="44B0FF"/>
            </a:solidFill>
            <a:prstDash val="solid"/>
          </a:ln>
        </p:spPr>
      </p:sp>
      <p:sp>
        <p:nvSpPr>
          <p:cNvPr id="16" name="Text 14"/>
          <p:cNvSpPr/>
          <p:nvPr/>
        </p:nvSpPr>
        <p:spPr>
          <a:xfrm>
            <a:off x="3822192" y="1143000"/>
            <a:ext cx="1389888" cy="4114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Apache Superset</a:t>
            </a:r>
            <a:endParaRPr lang="en-US" sz="1300" dirty="0"/>
          </a:p>
        </p:txBody>
      </p:sp>
      <p:sp>
        <p:nvSpPr>
          <p:cNvPr id="17" name="Text 15"/>
          <p:cNvSpPr/>
          <p:nvPr/>
        </p:nvSpPr>
        <p:spPr>
          <a:xfrm>
            <a:off x="3822192" y="1581912"/>
            <a:ext cx="1389888"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port 8088</a:t>
            </a:r>
            <a:endParaRPr lang="en-US" sz="1000" dirty="0"/>
          </a:p>
        </p:txBody>
      </p:sp>
      <p:sp>
        <p:nvSpPr>
          <p:cNvPr id="18" name="Text 16"/>
          <p:cNvSpPr/>
          <p:nvPr/>
        </p:nvSpPr>
        <p:spPr>
          <a:xfrm>
            <a:off x="3822192" y="1920240"/>
            <a:ext cx="1389888" cy="228600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Open-source BI platform (v4.1.1). Dashboards are rendered inside iframes. Validates the guest JWT, applies RLS WHERE clauses, and queries Postgres live.</a:t>
            </a:r>
            <a:endParaRPr lang="en-US" sz="950" dirty="0"/>
          </a:p>
        </p:txBody>
      </p:sp>
      <p:sp>
        <p:nvSpPr>
          <p:cNvPr id="19" name="Shape 17"/>
          <p:cNvSpPr/>
          <p:nvPr/>
        </p:nvSpPr>
        <p:spPr>
          <a:xfrm>
            <a:off x="5504688" y="868680"/>
            <a:ext cx="1572768" cy="35204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5504688" y="868680"/>
            <a:ext cx="1572768" cy="201168"/>
          </a:xfrm>
          <a:prstGeom prst="rect">
            <a:avLst/>
          </a:prstGeom>
          <a:solidFill>
            <a:srgbClr val="336791"/>
          </a:solidFill>
          <a:ln w="12700">
            <a:solidFill>
              <a:srgbClr val="336791"/>
            </a:solidFill>
            <a:prstDash val="solid"/>
          </a:ln>
        </p:spPr>
      </p:sp>
      <p:sp>
        <p:nvSpPr>
          <p:cNvPr id="21" name="Text 19"/>
          <p:cNvSpPr/>
          <p:nvPr/>
        </p:nvSpPr>
        <p:spPr>
          <a:xfrm>
            <a:off x="5596128" y="1143000"/>
            <a:ext cx="1389888" cy="4114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PostgreSQL</a:t>
            </a:r>
            <a:endParaRPr lang="en-US" sz="1300" dirty="0"/>
          </a:p>
        </p:txBody>
      </p:sp>
      <p:sp>
        <p:nvSpPr>
          <p:cNvPr id="22" name="Text 20"/>
          <p:cNvSpPr/>
          <p:nvPr/>
        </p:nvSpPr>
        <p:spPr>
          <a:xfrm>
            <a:off x="5596128" y="1581912"/>
            <a:ext cx="1389888"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port 5433</a:t>
            </a:r>
            <a:endParaRPr lang="en-US" sz="1000" dirty="0"/>
          </a:p>
        </p:txBody>
      </p:sp>
      <p:sp>
        <p:nvSpPr>
          <p:cNvPr id="23" name="Text 21"/>
          <p:cNvSpPr/>
          <p:nvPr/>
        </p:nvSpPr>
        <p:spPr>
          <a:xfrm>
            <a:off x="5596128" y="1920240"/>
            <a:ext cx="1389888" cy="228600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Two instances: one for sales data (salesdb, 2000 rows), one internal for Superset metadata (dashboard/chart definitions, user roles).</a:t>
            </a:r>
            <a:endParaRPr lang="en-US" sz="950" dirty="0"/>
          </a:p>
        </p:txBody>
      </p:sp>
      <p:sp>
        <p:nvSpPr>
          <p:cNvPr id="24" name="Shape 22"/>
          <p:cNvSpPr/>
          <p:nvPr/>
        </p:nvSpPr>
        <p:spPr>
          <a:xfrm>
            <a:off x="7278624" y="868680"/>
            <a:ext cx="1572768" cy="35204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7278624" y="868680"/>
            <a:ext cx="1572768" cy="201168"/>
          </a:xfrm>
          <a:prstGeom prst="rect">
            <a:avLst/>
          </a:prstGeom>
          <a:solidFill>
            <a:srgbClr val="DC382D"/>
          </a:solidFill>
          <a:ln w="12700">
            <a:solidFill>
              <a:srgbClr val="DC382D"/>
            </a:solidFill>
            <a:prstDash val="solid"/>
          </a:ln>
        </p:spPr>
      </p:sp>
      <p:sp>
        <p:nvSpPr>
          <p:cNvPr id="26" name="Text 24"/>
          <p:cNvSpPr/>
          <p:nvPr/>
        </p:nvSpPr>
        <p:spPr>
          <a:xfrm>
            <a:off x="7370064" y="1143000"/>
            <a:ext cx="1389888" cy="4114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Redis</a:t>
            </a:r>
            <a:endParaRPr lang="en-US" sz="1300" dirty="0"/>
          </a:p>
        </p:txBody>
      </p:sp>
      <p:sp>
        <p:nvSpPr>
          <p:cNvPr id="27" name="Text 25"/>
          <p:cNvSpPr/>
          <p:nvPr/>
        </p:nvSpPr>
        <p:spPr>
          <a:xfrm>
            <a:off x="7370064" y="1581912"/>
            <a:ext cx="1389888"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internal</a:t>
            </a:r>
            <a:endParaRPr lang="en-US" sz="1000" dirty="0"/>
          </a:p>
        </p:txBody>
      </p:sp>
      <p:sp>
        <p:nvSpPr>
          <p:cNvPr id="28" name="Text 26"/>
          <p:cNvSpPr/>
          <p:nvPr/>
        </p:nvSpPr>
        <p:spPr>
          <a:xfrm>
            <a:off x="7370064" y="1920240"/>
            <a:ext cx="1389888" cy="228600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Cache layer for Superset query results. Already running in Docker Compose. Activated with a single DATA_CACHE_CONFIG block in superset_config.py.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Docker Compose Setup</a:t>
            </a:r>
            <a:endParaRPr lang="en-US" sz="2400" dirty="0"/>
          </a:p>
        </p:txBody>
      </p:sp>
      <p:sp>
        <p:nvSpPr>
          <p:cNvPr id="4" name="Text 2"/>
          <p:cNvSpPr/>
          <p:nvPr/>
        </p:nvSpPr>
        <p:spPr>
          <a:xfrm>
            <a:off x="365760" y="804672"/>
            <a:ext cx="8412480" cy="384048"/>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Six services in a single docker-compose.yml. Start everything with one command:</a:t>
            </a:r>
            <a:endParaRPr lang="en-US" sz="1200" dirty="0"/>
          </a:p>
        </p:txBody>
      </p:sp>
      <p:sp>
        <p:nvSpPr>
          <p:cNvPr id="5" name="Shape 3"/>
          <p:cNvSpPr/>
          <p:nvPr/>
        </p:nvSpPr>
        <p:spPr>
          <a:xfrm>
            <a:off x="274320" y="1261872"/>
            <a:ext cx="5486400" cy="384048"/>
          </a:xfrm>
          <a:prstGeom prst="rect">
            <a:avLst/>
          </a:prstGeom>
          <a:solidFill>
            <a:srgbClr val="0D1117"/>
          </a:solidFill>
          <a:ln w="12700">
            <a:solidFill>
              <a:srgbClr val="30363D"/>
            </a:solidFill>
            <a:prstDash val="solid"/>
          </a:ln>
        </p:spPr>
      </p:sp>
      <p:sp>
        <p:nvSpPr>
          <p:cNvPr id="6" name="Text 4"/>
          <p:cNvSpPr/>
          <p:nvPr/>
        </p:nvSpPr>
        <p:spPr>
          <a:xfrm>
            <a:off x="411480" y="1261872"/>
            <a:ext cx="5212080" cy="384048"/>
          </a:xfrm>
          <a:prstGeom prst="rect">
            <a:avLst/>
          </a:prstGeom>
          <a:noFill/>
          <a:ln/>
        </p:spPr>
        <p:txBody>
          <a:bodyPr wrap="square" lIns="0" tIns="0" rIns="0" bIns="0" rtlCol="0" anchor="ctr"/>
          <a:lstStyle/>
          <a:p>
            <a:pPr indent="0" marL="0">
              <a:buNone/>
            </a:pPr>
            <a:r>
              <a:rPr lang="en-US" sz="1300" b="1" dirty="0">
                <a:solidFill>
                  <a:srgbClr val="3FB950"/>
                </a:solidFill>
                <a:latin typeface="Courier New" pitchFamily="34" charset="0"/>
                <a:ea typeface="Courier New" pitchFamily="34" charset="-122"/>
                <a:cs typeface="Courier New" pitchFamily="34" charset="-120"/>
              </a:rPr>
              <a:t>docker compose up -d</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1783080"/>
          <a:ext cx="8595360" cy="2377440"/>
        </p:xfrm>
        <a:graphic>
          <a:graphicData uri="http://schemas.openxmlformats.org/drawingml/2006/table">
            <a:tbl>
              <a:tblPr/>
              <a:tblGrid>
                <a:gridCol w="1280160"/>
                <a:gridCol w="2560320"/>
                <a:gridCol w="1371600"/>
                <a:gridCol w="3383280"/>
              </a:tblGrid>
              <a:tr h="3962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Image</a:t>
                      </a:r>
                      <a:endParaRPr lang="en-US" sz="10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Port</a:t>
                      </a:r>
                      <a:endParaRPr lang="en-US" sz="10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396240">
                <a:tc>
                  <a:txBody>
                    <a:bodyPr/>
                    <a:lstStyle/>
                    <a:p>
                      <a:pPr indent="0" marL="0">
                        <a:buNone/>
                      </a:pPr>
                      <a:r>
                        <a:rPr lang="en-US" sz="950" dirty="0">
                          <a:solidFill>
                            <a:srgbClr val="79C0FF"/>
                          </a:solidFill>
                          <a:latin typeface="Courier New" pitchFamily="34" charset="0"/>
                          <a:ea typeface="Courier New" pitchFamily="34" charset="-122"/>
                          <a:cs typeface="Courier New" pitchFamily="34" charset="-120"/>
                        </a:rPr>
                        <a:t>superset</a:t>
                      </a:r>
                      <a:endParaRPr lang="en-US" sz="95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C9D1D9"/>
                          </a:solidFill>
                          <a:latin typeface="Calibri" pitchFamily="34" charset="0"/>
                          <a:ea typeface="Calibri" pitchFamily="34" charset="-122"/>
                          <a:cs typeface="Calibri" pitchFamily="34" charset="-120"/>
                        </a:rPr>
                        <a:t>apache/superset:4.1.1 + psycopg2</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A5D6FF"/>
                          </a:solidFill>
                          <a:latin typeface="Courier New" pitchFamily="34" charset="0"/>
                          <a:ea typeface="Courier New" pitchFamily="34" charset="-122"/>
                          <a:cs typeface="Courier New" pitchFamily="34" charset="-120"/>
                        </a:rPr>
                        <a:t>8088 -&gt; 8088</a:t>
                      </a:r>
                      <a:endParaRPr lang="en-US" sz="90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custom build required (first time only)</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396240">
                <a:tc>
                  <a:txBody>
                    <a:bodyPr/>
                    <a:lstStyle/>
                    <a:p>
                      <a:pPr indent="0" marL="0">
                        <a:buNone/>
                      </a:pPr>
                      <a:r>
                        <a:rPr lang="en-US" sz="950" dirty="0">
                          <a:solidFill>
                            <a:srgbClr val="79C0FF"/>
                          </a:solidFill>
                          <a:latin typeface="Courier New" pitchFamily="34" charset="0"/>
                          <a:ea typeface="Courier New" pitchFamily="34" charset="-122"/>
                          <a:cs typeface="Courier New" pitchFamily="34" charset="-120"/>
                        </a:rPr>
                        <a:t>backend</a:t>
                      </a:r>
                      <a:endParaRPr lang="en-US" sz="95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C9D1D9"/>
                          </a:solidFill>
                          <a:latin typeface="Calibri" pitchFamily="34" charset="0"/>
                          <a:ea typeface="Calibri" pitchFamily="34" charset="-122"/>
                          <a:cs typeface="Calibri" pitchFamily="34" charset="-120"/>
                        </a:rPr>
                        <a:t>golang:1.22-alpine</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A5D6FF"/>
                          </a:solidFill>
                          <a:latin typeface="Courier New" pitchFamily="34" charset="0"/>
                          <a:ea typeface="Courier New" pitchFamily="34" charset="-122"/>
                          <a:cs typeface="Courier New" pitchFamily="34" charset="-120"/>
                        </a:rPr>
                        <a:t>3000 -&gt; 3000</a:t>
                      </a:r>
                      <a:endParaRPr lang="en-US" sz="90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Go token proxy</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396240">
                <a:tc>
                  <a:txBody>
                    <a:bodyPr/>
                    <a:lstStyle/>
                    <a:p>
                      <a:pPr indent="0" marL="0">
                        <a:buNone/>
                      </a:pPr>
                      <a:r>
                        <a:rPr lang="en-US" sz="950" dirty="0">
                          <a:solidFill>
                            <a:srgbClr val="79C0FF"/>
                          </a:solidFill>
                          <a:latin typeface="Courier New" pitchFamily="34" charset="0"/>
                          <a:ea typeface="Courier New" pitchFamily="34" charset="-122"/>
                          <a:cs typeface="Courier New" pitchFamily="34" charset="-120"/>
                        </a:rPr>
                        <a:t>data-db</a:t>
                      </a:r>
                      <a:endParaRPr lang="en-US" sz="95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C9D1D9"/>
                          </a:solidFill>
                          <a:latin typeface="Calibri" pitchFamily="34" charset="0"/>
                          <a:ea typeface="Calibri" pitchFamily="34" charset="-122"/>
                          <a:cs typeface="Calibri" pitchFamily="34" charset="-120"/>
                        </a:rPr>
                        <a:t>postgres:16-alpine</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A5D6FF"/>
                          </a:solidFill>
                          <a:latin typeface="Courier New" pitchFamily="34" charset="0"/>
                          <a:ea typeface="Courier New" pitchFamily="34" charset="-122"/>
                          <a:cs typeface="Courier New" pitchFamily="34" charset="-120"/>
                        </a:rPr>
                        <a:t>5433 -&gt; 5432</a:t>
                      </a:r>
                      <a:endParaRPr lang="en-US" sz="90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salesdb -- exposed for external tools</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396240">
                <a:tc>
                  <a:txBody>
                    <a:bodyPr/>
                    <a:lstStyle/>
                    <a:p>
                      <a:pPr indent="0" marL="0">
                        <a:buNone/>
                      </a:pPr>
                      <a:r>
                        <a:rPr lang="en-US" sz="950" dirty="0">
                          <a:solidFill>
                            <a:srgbClr val="79C0FF"/>
                          </a:solidFill>
                          <a:latin typeface="Courier New" pitchFamily="34" charset="0"/>
                          <a:ea typeface="Courier New" pitchFamily="34" charset="-122"/>
                          <a:cs typeface="Courier New" pitchFamily="34" charset="-120"/>
                        </a:rPr>
                        <a:t>superset-db</a:t>
                      </a:r>
                      <a:endParaRPr lang="en-US" sz="95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C9D1D9"/>
                          </a:solidFill>
                          <a:latin typeface="Calibri" pitchFamily="34" charset="0"/>
                          <a:ea typeface="Calibri" pitchFamily="34" charset="-122"/>
                          <a:cs typeface="Calibri" pitchFamily="34" charset="-120"/>
                        </a:rPr>
                        <a:t>postgres:16-alpine</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A5D6FF"/>
                          </a:solidFill>
                          <a:latin typeface="Courier New" pitchFamily="34" charset="0"/>
                          <a:ea typeface="Courier New" pitchFamily="34" charset="-122"/>
                          <a:cs typeface="Courier New" pitchFamily="34" charset="-120"/>
                        </a:rPr>
                        <a:t>internal</a:t>
                      </a:r>
                      <a:endParaRPr lang="en-US" sz="90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Superset metadata (charts, dashboards, roles)</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396240">
                <a:tc>
                  <a:txBody>
                    <a:bodyPr/>
                    <a:lstStyle/>
                    <a:p>
                      <a:pPr indent="0" marL="0">
                        <a:buNone/>
                      </a:pPr>
                      <a:r>
                        <a:rPr lang="en-US" sz="950" dirty="0">
                          <a:solidFill>
                            <a:srgbClr val="79C0FF"/>
                          </a:solidFill>
                          <a:latin typeface="Courier New" pitchFamily="34" charset="0"/>
                          <a:ea typeface="Courier New" pitchFamily="34" charset="-122"/>
                          <a:cs typeface="Courier New" pitchFamily="34" charset="-120"/>
                        </a:rPr>
                        <a:t>redis</a:t>
                      </a:r>
                      <a:endParaRPr lang="en-US" sz="95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C9D1D9"/>
                          </a:solidFill>
                          <a:latin typeface="Calibri" pitchFamily="34" charset="0"/>
                          <a:ea typeface="Calibri" pitchFamily="34" charset="-122"/>
                          <a:cs typeface="Calibri" pitchFamily="34" charset="-120"/>
                        </a:rPr>
                        <a:t>redis:7-alpine</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A5D6FF"/>
                          </a:solidFill>
                          <a:latin typeface="Courier New" pitchFamily="34" charset="0"/>
                          <a:ea typeface="Courier New" pitchFamily="34" charset="-122"/>
                          <a:cs typeface="Courier New" pitchFamily="34" charset="-120"/>
                        </a:rPr>
                        <a:t>internal</a:t>
                      </a:r>
                      <a:endParaRPr lang="en-US" sz="900" dirty="0">
                        <a:latin typeface="Courier New" charset="0"/>
                        <a:ea typeface="Courier New" charset="0"/>
                        <a:cs typeface="Courier New"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Calibri" pitchFamily="34" charset="0"/>
                          <a:ea typeface="Calibri" pitchFamily="34" charset="-122"/>
                          <a:cs typeface="Calibri" pitchFamily="34" charset="-120"/>
                        </a:rPr>
                        <a:t>query result cache (not yet active)</a:t>
                      </a:r>
                      <a:endParaRPr lang="en-US" sz="9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bl>
          </a:graphicData>
        </a:graphic>
      </p:graphicFrame>
      <p:sp>
        <p:nvSpPr>
          <p:cNvPr id="8" name="Shape 5"/>
          <p:cNvSpPr/>
          <p:nvPr/>
        </p:nvSpPr>
        <p:spPr>
          <a:xfrm>
            <a:off x="274320" y="4251960"/>
            <a:ext cx="4114800" cy="594360"/>
          </a:xfrm>
          <a:prstGeom prst="rect">
            <a:avLst/>
          </a:prstGeom>
          <a:solidFill>
            <a:srgbClr val="0D1117"/>
          </a:solidFill>
          <a:ln w="12700">
            <a:solidFill>
              <a:srgbClr val="30363D"/>
            </a:solidFill>
            <a:prstDash val="solid"/>
          </a:ln>
        </p:spPr>
      </p:sp>
      <p:sp>
        <p:nvSpPr>
          <p:cNvPr id="9" name="Text 6"/>
          <p:cNvSpPr/>
          <p:nvPr/>
        </p:nvSpPr>
        <p:spPr>
          <a:xfrm>
            <a:off x="411480" y="4279392"/>
            <a:ext cx="3931920" cy="502920"/>
          </a:xfrm>
          <a:prstGeom prst="rect">
            <a:avLst/>
          </a:prstGeom>
          <a:noFill/>
          <a:ln/>
        </p:spPr>
        <p:txBody>
          <a:bodyPr wrap="square" lIns="0" tIns="0" rIns="0" bIns="0" rtlCol="0" anchor="t"/>
          <a:lstStyle/>
          <a:p>
            <a:pPr indent="0" marL="0">
              <a:buNone/>
            </a:pPr>
            <a:r>
              <a:rPr lang="en-US" sz="950" dirty="0">
                <a:solidFill>
                  <a:srgbClr val="8B949E"/>
                </a:solidFill>
                <a:latin typeface="Courier New" pitchFamily="34" charset="0"/>
                <a:ea typeface="Courier New" pitchFamily="34" charset="-122"/>
                <a:cs typeface="Courier New" pitchFamily="34" charset="-120"/>
              </a:rPr>
              <a:t># First time only -- installs psycopg2
</a:t>
            </a:r>
            <a:pPr indent="0" marL="0">
              <a:buNone/>
            </a:pPr>
            <a:r>
              <a:rPr lang="en-US" sz="950" dirty="0">
                <a:solidFill>
                  <a:srgbClr val="3FB950"/>
                </a:solidFill>
                <a:latin typeface="Courier New" pitchFamily="34" charset="0"/>
                <a:ea typeface="Courier New" pitchFamily="34" charset="-122"/>
                <a:cs typeface="Courier New" pitchFamily="34" charset="-120"/>
              </a:rPr>
              <a:t>docker compose build superset</a:t>
            </a:r>
            <a:endParaRPr lang="en-US" sz="950" dirty="0"/>
          </a:p>
        </p:txBody>
      </p:sp>
      <p:sp>
        <p:nvSpPr>
          <p:cNvPr id="10" name="Shape 7"/>
          <p:cNvSpPr/>
          <p:nvPr/>
        </p:nvSpPr>
        <p:spPr>
          <a:xfrm>
            <a:off x="4663440" y="4251960"/>
            <a:ext cx="4206240" cy="594360"/>
          </a:xfrm>
          <a:prstGeom prst="rect">
            <a:avLst/>
          </a:prstGeom>
          <a:solidFill>
            <a:srgbClr val="0D1117"/>
          </a:solidFill>
          <a:ln w="12700">
            <a:solidFill>
              <a:srgbClr val="30363D"/>
            </a:solidFill>
            <a:prstDash val="solid"/>
          </a:ln>
        </p:spPr>
      </p:sp>
      <p:sp>
        <p:nvSpPr>
          <p:cNvPr id="11" name="Text 8"/>
          <p:cNvSpPr/>
          <p:nvPr/>
        </p:nvSpPr>
        <p:spPr>
          <a:xfrm>
            <a:off x="4800600" y="4279392"/>
            <a:ext cx="3931920" cy="502920"/>
          </a:xfrm>
          <a:prstGeom prst="rect">
            <a:avLst/>
          </a:prstGeom>
          <a:noFill/>
          <a:ln/>
        </p:spPr>
        <p:txBody>
          <a:bodyPr wrap="square" lIns="0" tIns="0" rIns="0" bIns="0" rtlCol="0" anchor="t"/>
          <a:lstStyle/>
          <a:p>
            <a:pPr indent="0" marL="0">
              <a:buNone/>
            </a:pPr>
            <a:r>
              <a:rPr lang="en-US" sz="950" dirty="0">
                <a:solidFill>
                  <a:srgbClr val="8B949E"/>
                </a:solidFill>
                <a:latin typeface="Courier New" pitchFamily="34" charset="0"/>
                <a:ea typeface="Courier New" pitchFamily="34" charset="-122"/>
                <a:cs typeface="Courier New" pitchFamily="34" charset="-120"/>
              </a:rPr>
              <a:t># Watch Superset init (~60s first run)
</a:t>
            </a:r>
            <a:pPr indent="0" marL="0">
              <a:buNone/>
            </a:pPr>
            <a:r>
              <a:rPr lang="en-US" sz="950" dirty="0">
                <a:solidFill>
                  <a:srgbClr val="3FB950"/>
                </a:solidFill>
                <a:latin typeface="Courier New" pitchFamily="34" charset="0"/>
                <a:ea typeface="Courier New" pitchFamily="34" charset="-122"/>
                <a:cs typeface="Courier New" pitchFamily="34" charset="-120"/>
              </a:rPr>
              <a:t>docker compose logs -f superset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Installation Guide</a:t>
            </a:r>
            <a:endParaRPr lang="en-US" sz="2400" dirty="0"/>
          </a:p>
        </p:txBody>
      </p:sp>
      <p:sp>
        <p:nvSpPr>
          <p:cNvPr id="4" name="Shape 2"/>
          <p:cNvSpPr/>
          <p:nvPr/>
        </p:nvSpPr>
        <p:spPr>
          <a:xfrm>
            <a:off x="274320" y="896112"/>
            <a:ext cx="384048" cy="384048"/>
          </a:xfrm>
          <a:prstGeom prst="ellipse">
            <a:avLst/>
          </a:prstGeom>
          <a:solidFill>
            <a:srgbClr val="6366F1"/>
          </a:solidFill>
          <a:ln w="12700">
            <a:solidFill>
              <a:srgbClr val="6366F1"/>
            </a:solidFill>
            <a:prstDash val="solid"/>
          </a:ln>
        </p:spPr>
      </p:sp>
      <p:sp>
        <p:nvSpPr>
          <p:cNvPr id="5" name="Text 3"/>
          <p:cNvSpPr/>
          <p:nvPr/>
        </p:nvSpPr>
        <p:spPr>
          <a:xfrm>
            <a:off x="274320" y="896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86384" y="841248"/>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Build the custom Superset image</a:t>
            </a:r>
            <a:endParaRPr lang="en-US" sz="1150" dirty="0"/>
          </a:p>
        </p:txBody>
      </p:sp>
      <p:sp>
        <p:nvSpPr>
          <p:cNvPr id="7" name="Text 5"/>
          <p:cNvSpPr/>
          <p:nvPr/>
        </p:nvSpPr>
        <p:spPr>
          <a:xfrm>
            <a:off x="786384" y="1207008"/>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The base apache/superset image does not include psycopg2-binary (needed to connect to PostgreSQL). Run once: docker compose build superset</a:t>
            </a:r>
            <a:endParaRPr lang="en-US" sz="950" dirty="0"/>
          </a:p>
        </p:txBody>
      </p:sp>
      <p:sp>
        <p:nvSpPr>
          <p:cNvPr id="8" name="Shape 6"/>
          <p:cNvSpPr/>
          <p:nvPr/>
        </p:nvSpPr>
        <p:spPr>
          <a:xfrm>
            <a:off x="4754880" y="896112"/>
            <a:ext cx="384048" cy="384048"/>
          </a:xfrm>
          <a:prstGeom prst="ellipse">
            <a:avLst/>
          </a:prstGeom>
          <a:solidFill>
            <a:srgbClr val="00ACD7"/>
          </a:solidFill>
          <a:ln w="12700">
            <a:solidFill>
              <a:srgbClr val="00ACD7"/>
            </a:solidFill>
            <a:prstDash val="solid"/>
          </a:ln>
        </p:spPr>
      </p:sp>
      <p:sp>
        <p:nvSpPr>
          <p:cNvPr id="9" name="Text 7"/>
          <p:cNvSpPr/>
          <p:nvPr/>
        </p:nvSpPr>
        <p:spPr>
          <a:xfrm>
            <a:off x="4754880" y="896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5266944" y="841248"/>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Start all services</a:t>
            </a:r>
            <a:endParaRPr lang="en-US" sz="1150" dirty="0"/>
          </a:p>
        </p:txBody>
      </p:sp>
      <p:sp>
        <p:nvSpPr>
          <p:cNvPr id="11" name="Text 9"/>
          <p:cNvSpPr/>
          <p:nvPr/>
        </p:nvSpPr>
        <p:spPr>
          <a:xfrm>
            <a:off x="5266944" y="1207008"/>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docker compose up -d  -- starts Superset, Go backend, PostgreSQL (x2), Redis. Wait ~60s for Superset to initialize on first run.</a:t>
            </a:r>
            <a:endParaRPr lang="en-US" sz="950" dirty="0"/>
          </a:p>
        </p:txBody>
      </p:sp>
      <p:sp>
        <p:nvSpPr>
          <p:cNvPr id="12" name="Shape 10"/>
          <p:cNvSpPr/>
          <p:nvPr/>
        </p:nvSpPr>
        <p:spPr>
          <a:xfrm>
            <a:off x="274320" y="2286000"/>
            <a:ext cx="384048" cy="384048"/>
          </a:xfrm>
          <a:prstGeom prst="ellipse">
            <a:avLst/>
          </a:prstGeom>
          <a:solidFill>
            <a:srgbClr val="10B981"/>
          </a:solidFill>
          <a:ln w="12700">
            <a:solidFill>
              <a:srgbClr val="10B981"/>
            </a:solidFill>
            <a:prstDash val="solid"/>
          </a:ln>
        </p:spPr>
      </p:sp>
      <p:sp>
        <p:nvSpPr>
          <p:cNvPr id="13" name="Text 11"/>
          <p:cNvSpPr/>
          <p:nvPr/>
        </p:nvSpPr>
        <p:spPr>
          <a:xfrm>
            <a:off x="274320" y="2286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786384" y="2231136"/>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Connect Superset to the sales database via the UI</a:t>
            </a:r>
            <a:endParaRPr lang="en-US" sz="1150" dirty="0"/>
          </a:p>
        </p:txBody>
      </p:sp>
      <p:sp>
        <p:nvSpPr>
          <p:cNvPr id="15" name="Text 13"/>
          <p:cNvSpPr/>
          <p:nvPr/>
        </p:nvSpPr>
        <p:spPr>
          <a:xfrm>
            <a:off x="786384" y="2596896"/>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Open http://localhost:8088 (login: admin/admin). Go to Settings &gt; Database Connections &gt; + Database. Engine: PostgreSQL, Host: data-db, Port: 5432, Database: salesdb, User: salesuser, Password: salespass.</a:t>
            </a:r>
            <a:endParaRPr lang="en-US" sz="950" dirty="0"/>
          </a:p>
        </p:txBody>
      </p:sp>
      <p:sp>
        <p:nvSpPr>
          <p:cNvPr id="16" name="Shape 14"/>
          <p:cNvSpPr/>
          <p:nvPr/>
        </p:nvSpPr>
        <p:spPr>
          <a:xfrm>
            <a:off x="4754880" y="2286000"/>
            <a:ext cx="384048" cy="384048"/>
          </a:xfrm>
          <a:prstGeom prst="ellipse">
            <a:avLst/>
          </a:prstGeom>
          <a:solidFill>
            <a:srgbClr val="F59E0B"/>
          </a:solidFill>
          <a:ln w="12700">
            <a:solidFill>
              <a:srgbClr val="F59E0B"/>
            </a:solidFill>
            <a:prstDash val="solid"/>
          </a:ln>
        </p:spPr>
      </p:sp>
      <p:sp>
        <p:nvSpPr>
          <p:cNvPr id="17" name="Text 15"/>
          <p:cNvSpPr/>
          <p:nvPr/>
        </p:nvSpPr>
        <p:spPr>
          <a:xfrm>
            <a:off x="4754880" y="2286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5266944" y="2231136"/>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Create a Dataset and Dashboard</a:t>
            </a:r>
            <a:endParaRPr lang="en-US" sz="1150" dirty="0"/>
          </a:p>
        </p:txBody>
      </p:sp>
      <p:sp>
        <p:nvSpPr>
          <p:cNvPr id="19" name="Text 17"/>
          <p:cNvSpPr/>
          <p:nvPr/>
        </p:nvSpPr>
        <p:spPr>
          <a:xfrm>
            <a:off x="5266944" y="2596896"/>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Datasets &gt; + Dataset &gt; pick salesdb &gt; public &gt; sales. Then Charts &gt; + Chart to build visuals. Save charts to a new Dashboard.</a:t>
            </a:r>
            <a:endParaRPr lang="en-US" sz="950" dirty="0"/>
          </a:p>
        </p:txBody>
      </p:sp>
      <p:sp>
        <p:nvSpPr>
          <p:cNvPr id="20" name="Shape 18"/>
          <p:cNvSpPr/>
          <p:nvPr/>
        </p:nvSpPr>
        <p:spPr>
          <a:xfrm>
            <a:off x="274320" y="3675888"/>
            <a:ext cx="384048" cy="384048"/>
          </a:xfrm>
          <a:prstGeom prst="ellipse">
            <a:avLst/>
          </a:prstGeom>
          <a:solidFill>
            <a:srgbClr val="DC382D"/>
          </a:solidFill>
          <a:ln w="12700">
            <a:solidFill>
              <a:srgbClr val="DC382D"/>
            </a:solidFill>
            <a:prstDash val="solid"/>
          </a:ln>
        </p:spPr>
      </p:sp>
      <p:sp>
        <p:nvSpPr>
          <p:cNvPr id="21" name="Text 19"/>
          <p:cNvSpPr/>
          <p:nvPr/>
        </p:nvSpPr>
        <p:spPr>
          <a:xfrm>
            <a:off x="274320"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786384" y="3621024"/>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Enable embedding and copy the Dashboard UUID</a:t>
            </a:r>
            <a:endParaRPr lang="en-US" sz="1150" dirty="0"/>
          </a:p>
        </p:txBody>
      </p:sp>
      <p:sp>
        <p:nvSpPr>
          <p:cNvPr id="23" name="Text 21"/>
          <p:cNvSpPr/>
          <p:nvPr/>
        </p:nvSpPr>
        <p:spPr>
          <a:xfrm>
            <a:off x="786384" y="3986784"/>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Inside the dashboard, click ... &gt; Embed dashboard. Set Allowed Domains to http://localhost:5173 (must include http://). Copy the UUID.</a:t>
            </a:r>
            <a:endParaRPr lang="en-US" sz="950" dirty="0"/>
          </a:p>
        </p:txBody>
      </p:sp>
      <p:sp>
        <p:nvSpPr>
          <p:cNvPr id="24" name="Shape 22"/>
          <p:cNvSpPr/>
          <p:nvPr/>
        </p:nvSpPr>
        <p:spPr>
          <a:xfrm>
            <a:off x="4754880" y="3675888"/>
            <a:ext cx="384048" cy="384048"/>
          </a:xfrm>
          <a:prstGeom prst="ellipse">
            <a:avLst/>
          </a:prstGeom>
          <a:solidFill>
            <a:srgbClr val="7C3AED"/>
          </a:solidFill>
          <a:ln w="12700">
            <a:solidFill>
              <a:srgbClr val="7C3AED"/>
            </a:solidFill>
            <a:prstDash val="solid"/>
          </a:ln>
        </p:spPr>
      </p:sp>
      <p:sp>
        <p:nvSpPr>
          <p:cNvPr id="25" name="Text 23"/>
          <p:cNvSpPr/>
          <p:nvPr/>
        </p:nvSpPr>
        <p:spPr>
          <a:xfrm>
            <a:off x="4754880"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5266944" y="3621024"/>
            <a:ext cx="3703320" cy="347472"/>
          </a:xfrm>
          <a:prstGeom prst="rect">
            <a:avLst/>
          </a:prstGeom>
          <a:noFill/>
          <a:ln/>
        </p:spPr>
        <p:txBody>
          <a:bodyPr wrap="square" lIns="0" tIns="0" rIns="0" bIns="0" rtlCol="0" anchor="ctr"/>
          <a:lstStyle/>
          <a:p>
            <a:pPr algn="l" indent="0" marL="0">
              <a:buNone/>
            </a:pPr>
            <a:r>
              <a:rPr lang="en-US" sz="1150" b="1" dirty="0">
                <a:solidFill>
                  <a:srgbClr val="1E293B"/>
                </a:solidFill>
                <a:latin typeface="Calibri" pitchFamily="34" charset="0"/>
                <a:ea typeface="Calibri" pitchFamily="34" charset="-122"/>
                <a:cs typeface="Calibri" pitchFamily="34" charset="-120"/>
              </a:rPr>
              <a:t>Configure the frontend and run</a:t>
            </a:r>
            <a:endParaRPr lang="en-US" sz="1150" dirty="0"/>
          </a:p>
        </p:txBody>
      </p:sp>
      <p:sp>
        <p:nvSpPr>
          <p:cNvPr id="27" name="Text 25"/>
          <p:cNvSpPr/>
          <p:nvPr/>
        </p:nvSpPr>
        <p:spPr>
          <a:xfrm>
            <a:off x="5266944" y="3986784"/>
            <a:ext cx="3703320" cy="960120"/>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cp frontend/.env.example frontend/.env. Set VITE_BACKEND_URL=http://localhost:3000, VITE_SUPERSET_URL=http://localhost:8088, VITE_DASHBOARD_ID=&lt;uuid&gt;. Then: cd frontend &amp;&amp; pnpm install &amp;&amp; pnpm dev</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Architecture Overview</a:t>
            </a:r>
            <a:endParaRPr lang="en-US" sz="2400" dirty="0"/>
          </a:p>
        </p:txBody>
      </p:sp>
      <p:sp>
        <p:nvSpPr>
          <p:cNvPr id="4" name="Shape 2"/>
          <p:cNvSpPr/>
          <p:nvPr/>
        </p:nvSpPr>
        <p:spPr>
          <a:xfrm>
            <a:off x="228600" y="914400"/>
            <a:ext cx="2011680" cy="2103120"/>
          </a:xfrm>
          <a:prstGeom prst="rect">
            <a:avLst/>
          </a:prstGeom>
          <a:solidFill>
            <a:srgbClr val="1E293B"/>
          </a:solidFill>
          <a:ln w="12700">
            <a:solidFill>
              <a:srgbClr val="6366F1"/>
            </a:solidFill>
            <a:prstDash val="solid"/>
          </a:ln>
        </p:spPr>
      </p:sp>
      <p:sp>
        <p:nvSpPr>
          <p:cNvPr id="5" name="Text 3"/>
          <p:cNvSpPr/>
          <p:nvPr/>
        </p:nvSpPr>
        <p:spPr>
          <a:xfrm>
            <a:off x="228600" y="914400"/>
            <a:ext cx="2011680" cy="347472"/>
          </a:xfrm>
          <a:prstGeom prst="rect">
            <a:avLst/>
          </a:prstGeom>
          <a:noFill/>
          <a:ln/>
        </p:spPr>
        <p:txBody>
          <a:bodyPr wrap="square" lIns="0" tIns="0" rIns="0" bIns="0" rtlCol="0" anchor="ctr"/>
          <a:lstStyle/>
          <a:p>
            <a:pPr algn="ctr" indent="0" marL="0">
              <a:buNone/>
            </a:pPr>
            <a:r>
              <a:rPr lang="en-US" sz="1200" b="1" dirty="0">
                <a:solidFill>
                  <a:srgbClr val="818CF8"/>
                </a:solidFill>
                <a:latin typeface="Calibri" pitchFamily="34" charset="0"/>
                <a:ea typeface="Calibri" pitchFamily="34" charset="-122"/>
                <a:cs typeface="Calibri" pitchFamily="34" charset="-120"/>
              </a:rPr>
              <a:t>Browser</a:t>
            </a:r>
            <a:endParaRPr lang="en-US" sz="1200" dirty="0"/>
          </a:p>
        </p:txBody>
      </p:sp>
      <p:sp>
        <p:nvSpPr>
          <p:cNvPr id="6" name="Text 4"/>
          <p:cNvSpPr/>
          <p:nvPr/>
        </p:nvSpPr>
        <p:spPr>
          <a:xfrm>
            <a:off x="338328" y="1298448"/>
            <a:ext cx="1792224" cy="292608"/>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SvelteKit :5173</a:t>
            </a:r>
            <a:endParaRPr lang="en-US" sz="950" dirty="0"/>
          </a:p>
        </p:txBody>
      </p:sp>
      <p:sp>
        <p:nvSpPr>
          <p:cNvPr id="7" name="Text 5"/>
          <p:cNvSpPr/>
          <p:nvPr/>
        </p:nvSpPr>
        <p:spPr>
          <a:xfrm>
            <a:off x="338328" y="1609344"/>
            <a:ext cx="1792224" cy="29260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KPI cards (own UI)</a:t>
            </a:r>
            <a:endParaRPr lang="en-US" sz="950" dirty="0"/>
          </a:p>
        </p:txBody>
      </p:sp>
      <p:sp>
        <p:nvSpPr>
          <p:cNvPr id="8" name="Text 6"/>
          <p:cNvSpPr/>
          <p:nvPr/>
        </p:nvSpPr>
        <p:spPr>
          <a:xfrm>
            <a:off x="338328" y="1920240"/>
            <a:ext cx="1792224" cy="29260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Superset iframe</a:t>
            </a:r>
            <a:endParaRPr lang="en-US" sz="950" dirty="0"/>
          </a:p>
        </p:txBody>
      </p:sp>
      <p:sp>
        <p:nvSpPr>
          <p:cNvPr id="9" name="Shape 7"/>
          <p:cNvSpPr/>
          <p:nvPr/>
        </p:nvSpPr>
        <p:spPr>
          <a:xfrm>
            <a:off x="2240280" y="1828800"/>
            <a:ext cx="1005840" cy="0"/>
          </a:xfrm>
          <a:prstGeom prst="line">
            <a:avLst/>
          </a:prstGeom>
          <a:noFill/>
          <a:ln w="19050">
            <a:solidFill>
              <a:srgbClr val="818CF8"/>
            </a:solidFill>
            <a:prstDash val="solid"/>
          </a:ln>
        </p:spPr>
      </p:sp>
      <p:sp>
        <p:nvSpPr>
          <p:cNvPr id="10" name="Text 8"/>
          <p:cNvSpPr/>
          <p:nvPr/>
        </p:nvSpPr>
        <p:spPr>
          <a:xfrm>
            <a:off x="2103120" y="1481328"/>
            <a:ext cx="137160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POST /api/guest-token</a:t>
            </a:r>
            <a:endParaRPr lang="en-US" sz="850" dirty="0"/>
          </a:p>
        </p:txBody>
      </p:sp>
      <p:sp>
        <p:nvSpPr>
          <p:cNvPr id="11" name="Shape 9"/>
          <p:cNvSpPr/>
          <p:nvPr/>
        </p:nvSpPr>
        <p:spPr>
          <a:xfrm>
            <a:off x="3246120" y="914400"/>
            <a:ext cx="2377440" cy="2103120"/>
          </a:xfrm>
          <a:prstGeom prst="rect">
            <a:avLst/>
          </a:prstGeom>
          <a:solidFill>
            <a:srgbClr val="1E293B"/>
          </a:solidFill>
          <a:ln w="12700">
            <a:solidFill>
              <a:srgbClr val="00ACD7"/>
            </a:solidFill>
            <a:prstDash val="solid"/>
          </a:ln>
        </p:spPr>
      </p:sp>
      <p:sp>
        <p:nvSpPr>
          <p:cNvPr id="12" name="Text 10"/>
          <p:cNvSpPr/>
          <p:nvPr/>
        </p:nvSpPr>
        <p:spPr>
          <a:xfrm>
            <a:off x="3246120" y="914400"/>
            <a:ext cx="2377440" cy="347472"/>
          </a:xfrm>
          <a:prstGeom prst="rect">
            <a:avLst/>
          </a:prstGeom>
          <a:noFill/>
          <a:ln/>
        </p:spPr>
        <p:txBody>
          <a:bodyPr wrap="square" lIns="0" tIns="0" rIns="0" bIns="0" rtlCol="0" anchor="ctr"/>
          <a:lstStyle/>
          <a:p>
            <a:pPr algn="ctr" indent="0" marL="0">
              <a:buNone/>
            </a:pPr>
            <a:r>
              <a:rPr lang="en-US" sz="1200" b="1" dirty="0">
                <a:solidFill>
                  <a:srgbClr val="00ACD7"/>
                </a:solidFill>
                <a:latin typeface="Calibri" pitchFamily="34" charset="0"/>
                <a:ea typeface="Calibri" pitchFamily="34" charset="-122"/>
                <a:cs typeface="Calibri" pitchFamily="34" charset="-120"/>
              </a:rPr>
              <a:t>Go Backend :3000</a:t>
            </a:r>
            <a:endParaRPr lang="en-US" sz="1200" dirty="0"/>
          </a:p>
        </p:txBody>
      </p:sp>
      <p:sp>
        <p:nvSpPr>
          <p:cNvPr id="13" name="Text 11"/>
          <p:cNvSpPr/>
          <p:nvPr/>
        </p:nvSpPr>
        <p:spPr>
          <a:xfrm>
            <a:off x="3355848" y="1298448"/>
            <a:ext cx="2157984" cy="292608"/>
          </a:xfrm>
          <a:prstGeom prst="rect">
            <a:avLst/>
          </a:prstGeom>
          <a:noFill/>
          <a:ln/>
        </p:spPr>
        <p:txBody>
          <a:bodyPr wrap="square" lIns="0" tIns="0" rIns="0" bIns="0" rtlCol="0" anchor="ctr"/>
          <a:lstStyle/>
          <a:p>
            <a:pPr algn="l" indent="0" marL="0">
              <a:buNone/>
            </a:pPr>
            <a:r>
              <a:rPr lang="en-US" sz="950" dirty="0">
                <a:solidFill>
                  <a:srgbClr val="94A3B8"/>
                </a:solidFill>
                <a:latin typeface="Courier New" pitchFamily="34" charset="0"/>
                <a:ea typeface="Courier New" pitchFamily="34" charset="-122"/>
                <a:cs typeface="Courier New" pitchFamily="34" charset="-120"/>
              </a:rPr>
              <a:t>1. POST login -&gt; JWT</a:t>
            </a:r>
            <a:endParaRPr lang="en-US" sz="950" dirty="0"/>
          </a:p>
        </p:txBody>
      </p:sp>
      <p:sp>
        <p:nvSpPr>
          <p:cNvPr id="14" name="Text 12"/>
          <p:cNvSpPr/>
          <p:nvPr/>
        </p:nvSpPr>
        <p:spPr>
          <a:xfrm>
            <a:off x="3355848" y="1609344"/>
            <a:ext cx="2157984" cy="292608"/>
          </a:xfrm>
          <a:prstGeom prst="rect">
            <a:avLst/>
          </a:prstGeom>
          <a:noFill/>
          <a:ln/>
        </p:spPr>
        <p:txBody>
          <a:bodyPr wrap="square" lIns="0" tIns="0" rIns="0" bIns="0" rtlCol="0" anchor="ctr"/>
          <a:lstStyle/>
          <a:p>
            <a:pPr algn="l" indent="0" marL="0">
              <a:buNone/>
            </a:pPr>
            <a:r>
              <a:rPr lang="en-US" sz="950" dirty="0">
                <a:solidFill>
                  <a:srgbClr val="94A3B8"/>
                </a:solidFill>
                <a:latin typeface="Courier New" pitchFamily="34" charset="0"/>
                <a:ea typeface="Courier New" pitchFamily="34" charset="-122"/>
                <a:cs typeface="Courier New" pitchFamily="34" charset="-120"/>
              </a:rPr>
              <a:t>2. GET csrf_token</a:t>
            </a:r>
            <a:endParaRPr lang="en-US" sz="950" dirty="0"/>
          </a:p>
        </p:txBody>
      </p:sp>
      <p:sp>
        <p:nvSpPr>
          <p:cNvPr id="15" name="Text 13"/>
          <p:cNvSpPr/>
          <p:nvPr/>
        </p:nvSpPr>
        <p:spPr>
          <a:xfrm>
            <a:off x="3355848" y="1920240"/>
            <a:ext cx="2157984" cy="292608"/>
          </a:xfrm>
          <a:prstGeom prst="rect">
            <a:avLst/>
          </a:prstGeom>
          <a:noFill/>
          <a:ln/>
        </p:spPr>
        <p:txBody>
          <a:bodyPr wrap="square" lIns="0" tIns="0" rIns="0" bIns="0" rtlCol="0" anchor="ctr"/>
          <a:lstStyle/>
          <a:p>
            <a:pPr algn="l" indent="0" marL="0">
              <a:buNone/>
            </a:pPr>
            <a:r>
              <a:rPr lang="en-US" sz="950" dirty="0">
                <a:solidFill>
                  <a:srgbClr val="94A3B8"/>
                </a:solidFill>
                <a:latin typeface="Courier New" pitchFamily="34" charset="0"/>
                <a:ea typeface="Courier New" pitchFamily="34" charset="-122"/>
                <a:cs typeface="Courier New" pitchFamily="34" charset="-120"/>
              </a:rPr>
              <a:t>3. POST guest_token/</a:t>
            </a:r>
            <a:endParaRPr lang="en-US" sz="950" dirty="0"/>
          </a:p>
        </p:txBody>
      </p:sp>
      <p:sp>
        <p:nvSpPr>
          <p:cNvPr id="16" name="Text 14"/>
          <p:cNvSpPr/>
          <p:nvPr/>
        </p:nvSpPr>
        <p:spPr>
          <a:xfrm>
            <a:off x="3246120" y="2606040"/>
            <a:ext cx="2377440" cy="27432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server-to-server only</a:t>
            </a:r>
            <a:endParaRPr lang="en-US" sz="850" dirty="0"/>
          </a:p>
        </p:txBody>
      </p:sp>
      <p:sp>
        <p:nvSpPr>
          <p:cNvPr id="17" name="Shape 15"/>
          <p:cNvSpPr/>
          <p:nvPr/>
        </p:nvSpPr>
        <p:spPr>
          <a:xfrm>
            <a:off x="5623560" y="1828800"/>
            <a:ext cx="960120" cy="0"/>
          </a:xfrm>
          <a:prstGeom prst="line">
            <a:avLst/>
          </a:prstGeom>
          <a:noFill/>
          <a:ln w="19050">
            <a:solidFill>
              <a:srgbClr val="00ACD7"/>
            </a:solidFill>
            <a:prstDash val="solid"/>
          </a:ln>
        </p:spPr>
      </p:sp>
      <p:sp>
        <p:nvSpPr>
          <p:cNvPr id="18" name="Text 16"/>
          <p:cNvSpPr/>
          <p:nvPr/>
        </p:nvSpPr>
        <p:spPr>
          <a:xfrm>
            <a:off x="5486400" y="1481328"/>
            <a:ext cx="128016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guest JWT (5 min)</a:t>
            </a:r>
            <a:endParaRPr lang="en-US" sz="850" dirty="0"/>
          </a:p>
        </p:txBody>
      </p:sp>
      <p:sp>
        <p:nvSpPr>
          <p:cNvPr id="19" name="Shape 17"/>
          <p:cNvSpPr/>
          <p:nvPr/>
        </p:nvSpPr>
        <p:spPr>
          <a:xfrm>
            <a:off x="6583680" y="914400"/>
            <a:ext cx="2240280" cy="2103120"/>
          </a:xfrm>
          <a:prstGeom prst="rect">
            <a:avLst/>
          </a:prstGeom>
          <a:solidFill>
            <a:srgbClr val="1E293B"/>
          </a:solidFill>
          <a:ln w="12700">
            <a:solidFill>
              <a:srgbClr val="44B0FF"/>
            </a:solidFill>
            <a:prstDash val="solid"/>
          </a:ln>
        </p:spPr>
      </p:sp>
      <p:sp>
        <p:nvSpPr>
          <p:cNvPr id="20" name="Text 18"/>
          <p:cNvSpPr/>
          <p:nvPr/>
        </p:nvSpPr>
        <p:spPr>
          <a:xfrm>
            <a:off x="6583680" y="914400"/>
            <a:ext cx="2240280" cy="347472"/>
          </a:xfrm>
          <a:prstGeom prst="rect">
            <a:avLst/>
          </a:prstGeom>
          <a:noFill/>
          <a:ln/>
        </p:spPr>
        <p:txBody>
          <a:bodyPr wrap="square" lIns="0" tIns="0" rIns="0" bIns="0" rtlCol="0" anchor="ctr"/>
          <a:lstStyle/>
          <a:p>
            <a:pPr algn="ctr" indent="0" marL="0">
              <a:buNone/>
            </a:pPr>
            <a:r>
              <a:rPr lang="en-US" sz="1200" b="1" dirty="0">
                <a:solidFill>
                  <a:srgbClr val="44B0FF"/>
                </a:solidFill>
                <a:latin typeface="Calibri" pitchFamily="34" charset="0"/>
                <a:ea typeface="Calibri" pitchFamily="34" charset="-122"/>
                <a:cs typeface="Calibri" pitchFamily="34" charset="-120"/>
              </a:rPr>
              <a:t>Superset :8088</a:t>
            </a:r>
            <a:endParaRPr lang="en-US" sz="1200" dirty="0"/>
          </a:p>
        </p:txBody>
      </p:sp>
      <p:sp>
        <p:nvSpPr>
          <p:cNvPr id="21" name="Text 19"/>
          <p:cNvSpPr/>
          <p:nvPr/>
        </p:nvSpPr>
        <p:spPr>
          <a:xfrm>
            <a:off x="6693408" y="1298448"/>
            <a:ext cx="2020824" cy="29260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Validates guest JWT</a:t>
            </a:r>
            <a:endParaRPr lang="en-US" sz="950" dirty="0"/>
          </a:p>
        </p:txBody>
      </p:sp>
      <p:sp>
        <p:nvSpPr>
          <p:cNvPr id="22" name="Text 20"/>
          <p:cNvSpPr/>
          <p:nvPr/>
        </p:nvSpPr>
        <p:spPr>
          <a:xfrm>
            <a:off x="6693408" y="1609344"/>
            <a:ext cx="2020824" cy="29260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Applies RLS clauses</a:t>
            </a:r>
            <a:endParaRPr lang="en-US" sz="950" dirty="0"/>
          </a:p>
        </p:txBody>
      </p:sp>
      <p:sp>
        <p:nvSpPr>
          <p:cNvPr id="23" name="Text 21"/>
          <p:cNvSpPr/>
          <p:nvPr/>
        </p:nvSpPr>
        <p:spPr>
          <a:xfrm>
            <a:off x="6693408" y="1920240"/>
            <a:ext cx="2020824" cy="29260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Renders iframe</a:t>
            </a:r>
            <a:endParaRPr lang="en-US" sz="950" dirty="0"/>
          </a:p>
        </p:txBody>
      </p:sp>
      <p:sp>
        <p:nvSpPr>
          <p:cNvPr id="24" name="Shape 22"/>
          <p:cNvSpPr/>
          <p:nvPr/>
        </p:nvSpPr>
        <p:spPr>
          <a:xfrm>
            <a:off x="6583680" y="3657600"/>
            <a:ext cx="2240280" cy="914400"/>
          </a:xfrm>
          <a:prstGeom prst="rect">
            <a:avLst/>
          </a:prstGeom>
          <a:solidFill>
            <a:srgbClr val="1E293B"/>
          </a:solidFill>
          <a:ln w="12700">
            <a:solidFill>
              <a:srgbClr val="336791"/>
            </a:solidFill>
            <a:prstDash val="solid"/>
          </a:ln>
        </p:spPr>
      </p:sp>
      <p:sp>
        <p:nvSpPr>
          <p:cNvPr id="25" name="Text 23"/>
          <p:cNvSpPr/>
          <p:nvPr/>
        </p:nvSpPr>
        <p:spPr>
          <a:xfrm>
            <a:off x="6583680" y="3657600"/>
            <a:ext cx="2240280" cy="347472"/>
          </a:xfrm>
          <a:prstGeom prst="rect">
            <a:avLst/>
          </a:prstGeom>
          <a:noFill/>
          <a:ln/>
        </p:spPr>
        <p:txBody>
          <a:bodyPr wrap="square" lIns="0" tIns="0" rIns="0" bIns="0" rtlCol="0" anchor="ctr"/>
          <a:lstStyle/>
          <a:p>
            <a:pPr algn="ctr" indent="0" marL="0">
              <a:buNone/>
            </a:pPr>
            <a:r>
              <a:rPr lang="en-US" sz="1200" b="1" dirty="0">
                <a:solidFill>
                  <a:srgbClr val="7BAFD4"/>
                </a:solidFill>
                <a:latin typeface="Calibri" pitchFamily="34" charset="0"/>
                <a:ea typeface="Calibri" pitchFamily="34" charset="-122"/>
                <a:cs typeface="Calibri" pitchFamily="34" charset="-120"/>
              </a:rPr>
              <a:t>PostgreSQL salesdb</a:t>
            </a:r>
            <a:endParaRPr lang="en-US" sz="1200" dirty="0"/>
          </a:p>
        </p:txBody>
      </p:sp>
      <p:sp>
        <p:nvSpPr>
          <p:cNvPr id="26" name="Text 24"/>
          <p:cNvSpPr/>
          <p:nvPr/>
        </p:nvSpPr>
        <p:spPr>
          <a:xfrm>
            <a:off x="6583680" y="4023360"/>
            <a:ext cx="2240280" cy="32004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2000 rows -- sales table</a:t>
            </a:r>
            <a:endParaRPr lang="en-US" sz="950" dirty="0"/>
          </a:p>
        </p:txBody>
      </p:sp>
      <p:sp>
        <p:nvSpPr>
          <p:cNvPr id="27" name="Shape 25"/>
          <p:cNvSpPr/>
          <p:nvPr/>
        </p:nvSpPr>
        <p:spPr>
          <a:xfrm>
            <a:off x="7699248" y="3017520"/>
            <a:ext cx="0" cy="640080"/>
          </a:xfrm>
          <a:prstGeom prst="line">
            <a:avLst/>
          </a:prstGeom>
          <a:noFill/>
          <a:ln w="19050">
            <a:solidFill>
              <a:srgbClr val="336791"/>
            </a:solidFill>
            <a:prstDash val="solid"/>
          </a:ln>
        </p:spPr>
      </p:sp>
      <p:sp>
        <p:nvSpPr>
          <p:cNvPr id="28" name="Text 26"/>
          <p:cNvSpPr/>
          <p:nvPr/>
        </p:nvSpPr>
        <p:spPr>
          <a:xfrm>
            <a:off x="7909560" y="3200400"/>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SQL</a:t>
            </a:r>
            <a:endParaRPr lang="en-US" sz="900" dirty="0"/>
          </a:p>
        </p:txBody>
      </p:sp>
      <p:sp>
        <p:nvSpPr>
          <p:cNvPr id="29" name="Shape 27"/>
          <p:cNvSpPr/>
          <p:nvPr/>
        </p:nvSpPr>
        <p:spPr>
          <a:xfrm>
            <a:off x="1234440" y="3200400"/>
            <a:ext cx="5669280" cy="0"/>
          </a:xfrm>
          <a:prstGeom prst="line">
            <a:avLst/>
          </a:prstGeom>
          <a:noFill/>
          <a:ln w="19050">
            <a:solidFill>
              <a:srgbClr val="818CF8"/>
            </a:solidFill>
            <a:prstDash val="sysDash"/>
          </a:ln>
        </p:spPr>
      </p:sp>
      <p:sp>
        <p:nvSpPr>
          <p:cNvPr id="30" name="Text 28"/>
          <p:cNvSpPr/>
          <p:nvPr/>
        </p:nvSpPr>
        <p:spPr>
          <a:xfrm>
            <a:off x="1280160" y="3246120"/>
            <a:ext cx="5577840" cy="292608"/>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iframe loaded directly by the browser -- not proxied through the Go backend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Request Flow: Guest Token</a:t>
            </a:r>
            <a:endParaRPr lang="en-US" sz="2400" dirty="0"/>
          </a:p>
        </p:txBody>
      </p:sp>
      <p:sp>
        <p:nvSpPr>
          <p:cNvPr id="4" name="Shape 2"/>
          <p:cNvSpPr/>
          <p:nvPr/>
        </p:nvSpPr>
        <p:spPr>
          <a:xfrm>
            <a:off x="201168" y="950976"/>
            <a:ext cx="402336" cy="402336"/>
          </a:xfrm>
          <a:prstGeom prst="ellipse">
            <a:avLst/>
          </a:prstGeom>
          <a:solidFill>
            <a:srgbClr val="6366F1"/>
          </a:solidFill>
          <a:ln w="12700">
            <a:solidFill>
              <a:srgbClr val="6366F1"/>
            </a:solidFill>
            <a:prstDash val="solid"/>
          </a:ln>
        </p:spPr>
      </p:sp>
      <p:sp>
        <p:nvSpPr>
          <p:cNvPr id="5" name="Text 3"/>
          <p:cNvSpPr/>
          <p:nvPr/>
        </p:nvSpPr>
        <p:spPr>
          <a:xfrm>
            <a:off x="201168" y="950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49808" y="868680"/>
            <a:ext cx="8138160" cy="365760"/>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Browser requests a guest token from the Go backend</a:t>
            </a:r>
            <a:endParaRPr lang="en-US" sz="1250" dirty="0"/>
          </a:p>
        </p:txBody>
      </p:sp>
      <p:sp>
        <p:nvSpPr>
          <p:cNvPr id="7" name="Text 5"/>
          <p:cNvSpPr/>
          <p:nvPr/>
        </p:nvSpPr>
        <p:spPr>
          <a:xfrm>
            <a:off x="749808" y="1252728"/>
            <a:ext cx="8138160" cy="365760"/>
          </a:xfrm>
          <a:prstGeom prst="rect">
            <a:avLst/>
          </a:prstGeom>
          <a:noFill/>
          <a:ln/>
        </p:spPr>
        <p:txBody>
          <a:bodyPr wrap="square" lIns="0" tIns="0" rIns="0" bIns="0" rtlCol="0" anchor="ctr"/>
          <a:lstStyle/>
          <a:p>
            <a:pPr algn="l" indent="0" marL="0">
              <a:buNone/>
            </a:pPr>
            <a:r>
              <a:rPr lang="en-US" sz="950" dirty="0">
                <a:solidFill>
                  <a:srgbClr val="64748B"/>
                </a:solidFill>
                <a:latin typeface="Courier New" pitchFamily="34" charset="0"/>
                <a:ea typeface="Courier New" pitchFamily="34" charset="-122"/>
                <a:cs typeface="Courier New" pitchFamily="34" charset="-120"/>
              </a:rPr>
              <a:t>POST http://localhost:3000/api/guest-token?dashboard_id=&lt;uuid&gt;  -- the frontend calls this before mounting the iframe</a:t>
            </a:r>
            <a:endParaRPr lang="en-US" sz="950" dirty="0"/>
          </a:p>
        </p:txBody>
      </p:sp>
      <p:sp>
        <p:nvSpPr>
          <p:cNvPr id="8" name="Shape 6"/>
          <p:cNvSpPr/>
          <p:nvPr/>
        </p:nvSpPr>
        <p:spPr>
          <a:xfrm>
            <a:off x="201168" y="1773936"/>
            <a:ext cx="402336" cy="402336"/>
          </a:xfrm>
          <a:prstGeom prst="ellipse">
            <a:avLst/>
          </a:prstGeom>
          <a:solidFill>
            <a:srgbClr val="00ACD7"/>
          </a:solidFill>
          <a:ln w="12700">
            <a:solidFill>
              <a:srgbClr val="00ACD7"/>
            </a:solidFill>
            <a:prstDash val="solid"/>
          </a:ln>
        </p:spPr>
      </p:sp>
      <p:sp>
        <p:nvSpPr>
          <p:cNvPr id="9" name="Text 7"/>
          <p:cNvSpPr/>
          <p:nvPr/>
        </p:nvSpPr>
        <p:spPr>
          <a:xfrm>
            <a:off x="201168"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749808" y="1691640"/>
            <a:ext cx="8138160" cy="365760"/>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Go authenticates with Superset (server-to-server, never visible to browser)</a:t>
            </a:r>
            <a:endParaRPr lang="en-US" sz="1250" dirty="0"/>
          </a:p>
        </p:txBody>
      </p:sp>
      <p:sp>
        <p:nvSpPr>
          <p:cNvPr id="11" name="Text 9"/>
          <p:cNvSpPr/>
          <p:nvPr/>
        </p:nvSpPr>
        <p:spPr>
          <a:xfrm>
            <a:off x="749808" y="2075688"/>
            <a:ext cx="8138160" cy="365760"/>
          </a:xfrm>
          <a:prstGeom prst="rect">
            <a:avLst/>
          </a:prstGeom>
          <a:noFill/>
          <a:ln/>
        </p:spPr>
        <p:txBody>
          <a:bodyPr wrap="square" lIns="0" tIns="0" rIns="0" bIns="0" rtlCol="0" anchor="ctr"/>
          <a:lstStyle/>
          <a:p>
            <a:pPr algn="l" indent="0" marL="0">
              <a:buNone/>
            </a:pPr>
            <a:r>
              <a:rPr lang="en-US" sz="950" dirty="0">
                <a:solidFill>
                  <a:srgbClr val="64748B"/>
                </a:solidFill>
                <a:latin typeface="Courier New" pitchFamily="34" charset="0"/>
                <a:ea typeface="Courier New" pitchFamily="34" charset="-122"/>
                <a:cs typeface="Courier New" pitchFamily="34" charset="-120"/>
              </a:rPr>
              <a:t>POST /security/login -&gt; access JWT   |   GET /security/csrf_token/   |   POST /security/guest_token/</a:t>
            </a:r>
            <a:endParaRPr lang="en-US" sz="950" dirty="0"/>
          </a:p>
        </p:txBody>
      </p:sp>
      <p:sp>
        <p:nvSpPr>
          <p:cNvPr id="12" name="Shape 10"/>
          <p:cNvSpPr/>
          <p:nvPr/>
        </p:nvSpPr>
        <p:spPr>
          <a:xfrm>
            <a:off x="201168" y="2596896"/>
            <a:ext cx="402336" cy="402336"/>
          </a:xfrm>
          <a:prstGeom prst="ellipse">
            <a:avLst/>
          </a:prstGeom>
          <a:solidFill>
            <a:srgbClr val="10B981"/>
          </a:solidFill>
          <a:ln w="12700">
            <a:solidFill>
              <a:srgbClr val="10B981"/>
            </a:solidFill>
            <a:prstDash val="solid"/>
          </a:ln>
        </p:spPr>
      </p:sp>
      <p:sp>
        <p:nvSpPr>
          <p:cNvPr id="13" name="Text 11"/>
          <p:cNvSpPr/>
          <p:nvPr/>
        </p:nvSpPr>
        <p:spPr>
          <a:xfrm>
            <a:off x="201168" y="2596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749808" y="2514600"/>
            <a:ext cx="8138160" cy="365760"/>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Go returns the guest JWT to the browser</a:t>
            </a:r>
            <a:endParaRPr lang="en-US" sz="1250" dirty="0"/>
          </a:p>
        </p:txBody>
      </p:sp>
      <p:sp>
        <p:nvSpPr>
          <p:cNvPr id="15" name="Text 13"/>
          <p:cNvSpPr/>
          <p:nvPr/>
        </p:nvSpPr>
        <p:spPr>
          <a:xfrm>
            <a:off x="749808" y="2898648"/>
            <a:ext cx="8138160" cy="365760"/>
          </a:xfrm>
          <a:prstGeom prst="rect">
            <a:avLst/>
          </a:prstGeom>
          <a:noFill/>
          <a:ln/>
        </p:spPr>
        <p:txBody>
          <a:bodyPr wrap="square" lIns="0" tIns="0" rIns="0" bIns="0" rtlCol="0" anchor="ctr"/>
          <a:lstStyle/>
          <a:p>
            <a:pPr algn="l" indent="0" marL="0">
              <a:buNone/>
            </a:pPr>
            <a:r>
              <a:rPr lang="en-US" sz="950" dirty="0">
                <a:solidFill>
                  <a:srgbClr val="64748B"/>
                </a:solidFill>
                <a:latin typeface="Courier New" pitchFamily="34" charset="0"/>
                <a:ea typeface="Courier New" pitchFamily="34" charset="-122"/>
                <a:cs typeface="Courier New" pitchFamily="34" charset="-120"/>
              </a:rPr>
              <a:t>Token is valid for 5 minutes. Superset admin credentials remain on the server and are never forwarded to the client.</a:t>
            </a:r>
            <a:endParaRPr lang="en-US" sz="950" dirty="0"/>
          </a:p>
        </p:txBody>
      </p:sp>
      <p:sp>
        <p:nvSpPr>
          <p:cNvPr id="16" name="Shape 14"/>
          <p:cNvSpPr/>
          <p:nvPr/>
        </p:nvSpPr>
        <p:spPr>
          <a:xfrm>
            <a:off x="201168" y="3419856"/>
            <a:ext cx="402336" cy="402336"/>
          </a:xfrm>
          <a:prstGeom prst="ellipse">
            <a:avLst/>
          </a:prstGeom>
          <a:solidFill>
            <a:srgbClr val="44B0FF"/>
          </a:solidFill>
          <a:ln w="12700">
            <a:solidFill>
              <a:srgbClr val="44B0FF"/>
            </a:solidFill>
            <a:prstDash val="solid"/>
          </a:ln>
        </p:spPr>
      </p:sp>
      <p:sp>
        <p:nvSpPr>
          <p:cNvPr id="17" name="Text 15"/>
          <p:cNvSpPr/>
          <p:nvPr/>
        </p:nvSpPr>
        <p:spPr>
          <a:xfrm>
            <a:off x="201168"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749808" y="3337560"/>
            <a:ext cx="8138160" cy="365760"/>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The Embedded SDK opens a Superset iframe using the guest JWT</a:t>
            </a:r>
            <a:endParaRPr lang="en-US" sz="1250" dirty="0"/>
          </a:p>
        </p:txBody>
      </p:sp>
      <p:sp>
        <p:nvSpPr>
          <p:cNvPr id="19" name="Text 17"/>
          <p:cNvSpPr/>
          <p:nvPr/>
        </p:nvSpPr>
        <p:spPr>
          <a:xfrm>
            <a:off x="749808" y="3721608"/>
            <a:ext cx="8138160" cy="365760"/>
          </a:xfrm>
          <a:prstGeom prst="rect">
            <a:avLst/>
          </a:prstGeom>
          <a:noFill/>
          <a:ln/>
        </p:spPr>
        <p:txBody>
          <a:bodyPr wrap="square" lIns="0" tIns="0" rIns="0" bIns="0" rtlCol="0" anchor="ctr"/>
          <a:lstStyle/>
          <a:p>
            <a:pPr algn="l" indent="0" marL="0">
              <a:buNone/>
            </a:pPr>
            <a:r>
              <a:rPr lang="en-US" sz="950" dirty="0">
                <a:solidFill>
                  <a:srgbClr val="64748B"/>
                </a:solidFill>
                <a:latin typeface="Courier New" pitchFamily="34" charset="0"/>
                <a:ea typeface="Courier New" pitchFamily="34" charset="-122"/>
                <a:cs typeface="Courier New" pitchFamily="34" charset="-120"/>
              </a:rPr>
              <a:t>src = http://localhost:8088/embedded/&lt;uuid&gt;  -- browser sends the JWT as X-GuestToken header on subsequent API calls</a:t>
            </a:r>
            <a:endParaRPr lang="en-US" sz="950" dirty="0"/>
          </a:p>
        </p:txBody>
      </p:sp>
      <p:sp>
        <p:nvSpPr>
          <p:cNvPr id="20" name="Shape 18"/>
          <p:cNvSpPr/>
          <p:nvPr/>
        </p:nvSpPr>
        <p:spPr>
          <a:xfrm>
            <a:off x="201168" y="4242816"/>
            <a:ext cx="402336" cy="402336"/>
          </a:xfrm>
          <a:prstGeom prst="ellipse">
            <a:avLst/>
          </a:prstGeom>
          <a:solidFill>
            <a:srgbClr val="F59E0B"/>
          </a:solidFill>
          <a:ln w="12700">
            <a:solidFill>
              <a:srgbClr val="F59E0B"/>
            </a:solidFill>
            <a:prstDash val="solid"/>
          </a:ln>
        </p:spPr>
      </p:sp>
      <p:sp>
        <p:nvSpPr>
          <p:cNvPr id="21" name="Text 19"/>
          <p:cNvSpPr/>
          <p:nvPr/>
        </p:nvSpPr>
        <p:spPr>
          <a:xfrm>
            <a:off x="201168" y="4242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749808" y="4160520"/>
            <a:ext cx="8138160" cy="365760"/>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Superset validates the JWT, applies RLS rules, and queries Postgres</a:t>
            </a:r>
            <a:endParaRPr lang="en-US" sz="1250" dirty="0"/>
          </a:p>
        </p:txBody>
      </p:sp>
      <p:sp>
        <p:nvSpPr>
          <p:cNvPr id="23" name="Text 21"/>
          <p:cNvSpPr/>
          <p:nvPr/>
        </p:nvSpPr>
        <p:spPr>
          <a:xfrm>
            <a:off x="749808" y="4544568"/>
            <a:ext cx="8138160" cy="365760"/>
          </a:xfrm>
          <a:prstGeom prst="rect">
            <a:avLst/>
          </a:prstGeom>
          <a:noFill/>
          <a:ln/>
        </p:spPr>
        <p:txBody>
          <a:bodyPr wrap="square" lIns="0" tIns="0" rIns="0" bIns="0" rtlCol="0" anchor="ctr"/>
          <a:lstStyle/>
          <a:p>
            <a:pPr algn="l" indent="0" marL="0">
              <a:buNone/>
            </a:pPr>
            <a:r>
              <a:rPr lang="en-US" sz="950" dirty="0">
                <a:solidFill>
                  <a:srgbClr val="64748B"/>
                </a:solidFill>
                <a:latin typeface="Courier New" pitchFamily="34" charset="0"/>
                <a:ea typeface="Courier New" pitchFamily="34" charset="-122"/>
                <a:cs typeface="Courier New" pitchFamily="34" charset="-120"/>
              </a:rPr>
              <a:t>SQL WHERE clauses embedded in the token restrict exactly which rows that session can access. The user cannot bypass them.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Go Backend: Token Proxy</a:t>
            </a:r>
            <a:endParaRPr lang="en-US" sz="2400" dirty="0"/>
          </a:p>
        </p:txBody>
      </p:sp>
      <p:sp>
        <p:nvSpPr>
          <p:cNvPr id="4" name="Shape 2"/>
          <p:cNvSpPr/>
          <p:nvPr/>
        </p:nvSpPr>
        <p:spPr>
          <a:xfrm>
            <a:off x="274320" y="822960"/>
            <a:ext cx="5212080" cy="4023360"/>
          </a:xfrm>
          <a:prstGeom prst="rect">
            <a:avLst/>
          </a:prstGeom>
          <a:solidFill>
            <a:srgbClr val="0D1117"/>
          </a:solidFill>
          <a:ln w="12700">
            <a:solidFill>
              <a:srgbClr val="30363D"/>
            </a:solidFill>
            <a:prstDash val="solid"/>
          </a:ln>
        </p:spPr>
      </p:sp>
      <p:sp>
        <p:nvSpPr>
          <p:cNvPr id="5" name="Text 3"/>
          <p:cNvSpPr/>
          <p:nvPr/>
        </p:nvSpPr>
        <p:spPr>
          <a:xfrm>
            <a:off x="457200" y="914400"/>
            <a:ext cx="4937760" cy="3794760"/>
          </a:xfrm>
          <a:prstGeom prst="rect">
            <a:avLst/>
          </a:prstGeom>
          <a:noFill/>
          <a:ln/>
        </p:spPr>
        <p:txBody>
          <a:bodyPr wrap="square" lIns="0" tIns="0" rIns="0" bIns="0" rtlCol="0" anchor="t"/>
          <a:lstStyle/>
          <a:p>
            <a:pPr indent="0" marL="0">
              <a:buNone/>
            </a:pPr>
            <a:r>
              <a:rPr lang="en-US" sz="950" dirty="0">
                <a:solidFill>
                  <a:srgbClr val="8B949E"/>
                </a:solidFill>
                <a:latin typeface="Courier New" pitchFamily="34" charset="0"/>
                <a:ea typeface="Courier New" pitchFamily="34" charset="-122"/>
                <a:cs typeface="Courier New" pitchFamily="34" charset="-120"/>
              </a:rPr>
              <a:t>// login caches access + CSRF tokens (4 min TTL)
</a:t>
            </a:r>
            <a:pPr indent="0" marL="0">
              <a:buNone/>
            </a:pPr>
            <a:r>
              <a:rPr lang="en-US" sz="950" dirty="0">
                <a:solidFill>
                  <a:srgbClr val="D2A8FF"/>
                </a:solidFill>
                <a:latin typeface="Courier New" pitchFamily="34" charset="0"/>
                <a:ea typeface="Courier New" pitchFamily="34" charset="-122"/>
                <a:cs typeface="Courier New" pitchFamily="34" charset="-120"/>
              </a:rPr>
              <a:t>func </a:t>
            </a:r>
            <a:pPr indent="0" marL="0">
              <a:buNone/>
            </a:pPr>
            <a:r>
              <a:rPr lang="en-US" sz="950" dirty="0">
                <a:solidFill>
                  <a:srgbClr val="79C0FF"/>
                </a:solidFill>
                <a:latin typeface="Courier New" pitchFamily="34" charset="0"/>
                <a:ea typeface="Courier New" pitchFamily="34" charset="-122"/>
                <a:cs typeface="Courier New" pitchFamily="34" charset="-120"/>
              </a:rPr>
              <a:t>login</a:t>
            </a:r>
            <a:pPr indent="0" marL="0">
              <a:buNone/>
            </a:pPr>
            <a:r>
              <a:rPr lang="en-US" sz="950" dirty="0">
                <a:solidFill>
                  <a:srgbClr val="C9D1D9"/>
                </a:solidFill>
                <a:latin typeface="Courier New" pitchFamily="34" charset="0"/>
                <a:ea typeface="Courier New" pitchFamily="34" charset="-122"/>
                <a:cs typeface="Courier New" pitchFamily="34" charset="-120"/>
              </a:rPr>
              <a:t>() error {
</a:t>
            </a:r>
            <a:pPr indent="0" marL="0">
              <a:buNone/>
            </a:pPr>
            <a:r>
              <a:rPr lang="en-US" sz="950" dirty="0">
                <a:solidFill>
                  <a:srgbClr val="C9D1D9"/>
                </a:solidFill>
                <a:latin typeface="Courier New" pitchFamily="34" charset="0"/>
                <a:ea typeface="Courier New" pitchFamily="34" charset="-122"/>
                <a:cs typeface="Courier New" pitchFamily="34" charset="-120"/>
              </a:rPr>
              <a:t>  mu.Lock(); defer mu.Unlock()
</a:t>
            </a:r>
            <a:pPr indent="0" marL="0">
              <a:buNone/>
            </a:pPr>
            <a:r>
              <a:rPr lang="en-US" sz="950" dirty="0">
                <a:solidFill>
                  <a:srgbClr val="D2A8FF"/>
                </a:solidFill>
                <a:latin typeface="Courier New" pitchFamily="34" charset="0"/>
                <a:ea typeface="Courier New" pitchFamily="34" charset="-122"/>
                <a:cs typeface="Courier New" pitchFamily="34" charset="-120"/>
              </a:rPr>
              <a:t>  if </a:t>
            </a:r>
            <a:pPr indent="0" marL="0">
              <a:buNone/>
            </a:pPr>
            <a:r>
              <a:rPr lang="en-US" sz="950" dirty="0">
                <a:solidFill>
                  <a:srgbClr val="C9D1D9"/>
                </a:solidFill>
                <a:latin typeface="Courier New" pitchFamily="34" charset="0"/>
                <a:ea typeface="Courier New" pitchFamily="34" charset="-122"/>
                <a:cs typeface="Courier New" pitchFamily="34" charset="-120"/>
              </a:rPr>
              <a:t>time.Now().Before(tokenExpiry) {
</a:t>
            </a:r>
            <a:pPr indent="0" marL="0">
              <a:buNone/>
            </a:pPr>
            <a:r>
              <a:rPr lang="en-US" sz="950" dirty="0">
                <a:solidFill>
                  <a:srgbClr val="8B949E"/>
                </a:solidFill>
                <a:latin typeface="Courier New" pitchFamily="34" charset="0"/>
                <a:ea typeface="Courier New" pitchFamily="34" charset="-122"/>
                <a:cs typeface="Courier New" pitchFamily="34" charset="-120"/>
              </a:rPr>
              <a:t>    return nil  // still valid, skip re-login
</a:t>
            </a:r>
            <a:pPr indent="0" marL="0">
              <a:buNone/>
            </a:pPr>
            <a:r>
              <a:rPr lang="en-US" sz="950" dirty="0">
                <a:solidFill>
                  <a:srgbClr val="C9D1D9"/>
                </a:solidFill>
                <a:latin typeface="Courier New" pitchFamily="34" charset="0"/>
                <a:ea typeface="Courier New" pitchFamily="34" charset="-122"/>
                <a:cs typeface="Courier New" pitchFamily="34" charset="-120"/>
              </a:rPr>
              <a:t>  }
</a:t>
            </a:r>
            <a:pPr indent="0" marL="0">
              <a:buNone/>
            </a:pPr>
            <a:r>
              <a:rPr lang="en-US" sz="950" dirty="0">
                <a:solidFill>
                  <a:srgbClr val="8B949E"/>
                </a:solidFill>
                <a:latin typeface="Courier New" pitchFamily="34" charset="0"/>
                <a:ea typeface="Courier New" pitchFamily="34" charset="-122"/>
                <a:cs typeface="Courier New" pitchFamily="34" charset="-120"/>
              </a:rPr>
              <a:t>  // POST /security/login  -&gt;  accessToken
</a:t>
            </a:r>
            <a:pPr indent="0" marL="0">
              <a:buNone/>
            </a:pPr>
            <a:r>
              <a:rPr lang="en-US" sz="950" dirty="0">
                <a:solidFill>
                  <a:srgbClr val="8B949E"/>
                </a:solidFill>
                <a:latin typeface="Courier New" pitchFamily="34" charset="0"/>
                <a:ea typeface="Courier New" pitchFamily="34" charset="-122"/>
                <a:cs typeface="Courier New" pitchFamily="34" charset="-120"/>
              </a:rPr>
              <a:t>  // GET  /security/csrf_token/  -&gt;  csrfToken
</a:t>
            </a:r>
            <a:pPr indent="0" marL="0">
              <a:buNone/>
            </a:pPr>
            <a:r>
              <a:rPr lang="en-US" sz="950" dirty="0">
                <a:solidFill>
                  <a:srgbClr val="C9D1D9"/>
                </a:solidFill>
                <a:latin typeface="Courier New" pitchFamily="34" charset="0"/>
                <a:ea typeface="Courier New" pitchFamily="34" charset="-122"/>
                <a:cs typeface="Courier New" pitchFamily="34" charset="-120"/>
              </a:rPr>
              <a:t>  tokenExpiry = time.Now().Add(4 * time.Minute)
</a:t>
            </a:r>
            <a:pPr indent="0" marL="0">
              <a:buNone/>
            </a:pPr>
            <a:r>
              <a:rPr lang="en-US" sz="950" dirty="0">
                <a:solidFill>
                  <a:srgbClr val="C9D1D9"/>
                </a:solidFill>
                <a:latin typeface="Courier New" pitchFamily="34" charset="0"/>
                <a:ea typeface="Courier New" pitchFamily="34" charset="-122"/>
                <a:cs typeface="Courier New" pitchFamily="34" charset="-120"/>
              </a:rPr>
              <a:t>}
</a:t>
            </a:r>
            <a:pPr indent="0" marL="0">
              <a:buNone/>
            </a:pPr>
            <a:r>
              <a:rPr lang="en-US" sz="950" dirty="0">
                <a:solidFill>
                  <a:srgbClr val="C9D1D9"/>
                </a:solidFill>
                <a:latin typeface="Courier New" pitchFamily="34" charset="0"/>
                <a:ea typeface="Courier New" pitchFamily="34" charset="-122"/>
                <a:cs typeface="Courier New" pitchFamily="34" charset="-120"/>
              </a:rPr>
              <a:t>payload, _ := json.Marshal(map[string]any{
</a:t>
            </a:r>
            <a:pPr indent="0" marL="0">
              <a:buNone/>
            </a:pPr>
            <a:r>
              <a:rPr lang="en-US" sz="950" dirty="0">
                <a:solidFill>
                  <a:srgbClr val="A5D6FF"/>
                </a:solidFill>
                <a:latin typeface="Courier New" pitchFamily="34" charset="0"/>
                <a:ea typeface="Courier New" pitchFamily="34" charset="-122"/>
                <a:cs typeface="Courier New" pitchFamily="34" charset="-120"/>
              </a:rPr>
              <a:t>  "user":      { "username": "guest" ... },
</a:t>
            </a:r>
            <a:pPr indent="0" marL="0">
              <a:buNone/>
            </a:pPr>
            <a:r>
              <a:rPr lang="en-US" sz="950" dirty="0">
                <a:solidFill>
                  <a:srgbClr val="A5D6FF"/>
                </a:solidFill>
                <a:latin typeface="Courier New" pitchFamily="34" charset="0"/>
                <a:ea typeface="Courier New" pitchFamily="34" charset="-122"/>
                <a:cs typeface="Courier New" pitchFamily="34" charset="-120"/>
              </a:rPr>
              <a:t>  "resources": [{ "type": "dashboard", "id": id }],
</a:t>
            </a:r>
            <a:pPr indent="0" marL="0">
              <a:buNone/>
            </a:pPr>
            <a:r>
              <a:rPr lang="en-US" sz="950" dirty="0">
                <a:solidFill>
                  <a:srgbClr val="8B949E"/>
                </a:solidFill>
                <a:latin typeface="Courier New" pitchFamily="34" charset="0"/>
                <a:ea typeface="Courier New" pitchFamily="34" charset="-122"/>
                <a:cs typeface="Courier New" pitchFamily="34" charset="-120"/>
              </a:rPr>
              <a:t>  "rls":       []any{},  // empty = no row restriction
</a:t>
            </a:r>
            <a:pPr indent="0" marL="0">
              <a:buNone/>
            </a:pPr>
            <a:r>
              <a:rPr lang="en-US" sz="950" dirty="0">
                <a:solidFill>
                  <a:srgbClr val="C9D1D9"/>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760720" y="868680"/>
            <a:ext cx="315468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How the token cache works</a:t>
            </a:r>
            <a:endParaRPr lang="en-US" sz="1300" dirty="0"/>
          </a:p>
        </p:txBody>
      </p:sp>
      <p:sp>
        <p:nvSpPr>
          <p:cNvPr id="7" name="Shape 5"/>
          <p:cNvSpPr/>
          <p:nvPr/>
        </p:nvSpPr>
        <p:spPr>
          <a:xfrm>
            <a:off x="5760720" y="1371600"/>
            <a:ext cx="3154680" cy="768096"/>
          </a:xfrm>
          <a:prstGeom prst="rect">
            <a:avLst/>
          </a:prstGeom>
          <a:solidFill>
            <a:srgbClr val="1E293B"/>
          </a:solidFill>
          <a:ln w="12700">
            <a:solidFill>
              <a:srgbClr val="334155"/>
            </a:solidFill>
            <a:prstDash val="solid"/>
          </a:ln>
        </p:spPr>
      </p:sp>
      <p:sp>
        <p:nvSpPr>
          <p:cNvPr id="8" name="Text 6"/>
          <p:cNvSpPr/>
          <p:nvPr/>
        </p:nvSpPr>
        <p:spPr>
          <a:xfrm>
            <a:off x="5870448" y="1426464"/>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ourier New" pitchFamily="34" charset="0"/>
                <a:ea typeface="Courier New" pitchFamily="34" charset="-122"/>
                <a:cs typeface="Courier New" pitchFamily="34" charset="-120"/>
              </a:rPr>
              <a:t>sync.Mutex</a:t>
            </a:r>
            <a:endParaRPr lang="en-US" sz="1000" dirty="0"/>
          </a:p>
        </p:txBody>
      </p:sp>
      <p:sp>
        <p:nvSpPr>
          <p:cNvPr id="9" name="Text 7"/>
          <p:cNvSpPr/>
          <p:nvPr/>
        </p:nvSpPr>
        <p:spPr>
          <a:xfrm>
            <a:off x="5870448" y="1700784"/>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Prevents concurrent login races. If two requests arrive simultaneously, only one triggers a new login; the other waits and reuses the result.</a:t>
            </a:r>
            <a:endParaRPr lang="en-US" sz="950" dirty="0"/>
          </a:p>
        </p:txBody>
      </p:sp>
      <p:sp>
        <p:nvSpPr>
          <p:cNvPr id="10" name="Shape 8"/>
          <p:cNvSpPr/>
          <p:nvPr/>
        </p:nvSpPr>
        <p:spPr>
          <a:xfrm>
            <a:off x="5760720" y="2258568"/>
            <a:ext cx="3154680" cy="768096"/>
          </a:xfrm>
          <a:prstGeom prst="rect">
            <a:avLst/>
          </a:prstGeom>
          <a:solidFill>
            <a:srgbClr val="1E293B"/>
          </a:solidFill>
          <a:ln w="12700">
            <a:solidFill>
              <a:srgbClr val="334155"/>
            </a:solidFill>
            <a:prstDash val="solid"/>
          </a:ln>
        </p:spPr>
      </p:sp>
      <p:sp>
        <p:nvSpPr>
          <p:cNvPr id="11" name="Text 9"/>
          <p:cNvSpPr/>
          <p:nvPr/>
        </p:nvSpPr>
        <p:spPr>
          <a:xfrm>
            <a:off x="5870448" y="2313432"/>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ourier New" pitchFamily="34" charset="0"/>
                <a:ea typeface="Courier New" pitchFamily="34" charset="-122"/>
                <a:cs typeface="Courier New" pitchFamily="34" charset="-120"/>
              </a:rPr>
              <a:t>cookiejar</a:t>
            </a:r>
            <a:endParaRPr lang="en-US" sz="1000" dirty="0"/>
          </a:p>
        </p:txBody>
      </p:sp>
      <p:sp>
        <p:nvSpPr>
          <p:cNvPr id="12" name="Text 10"/>
          <p:cNvSpPr/>
          <p:nvPr/>
        </p:nvSpPr>
        <p:spPr>
          <a:xfrm>
            <a:off x="5870448" y="2587752"/>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Superset requires the session cookie to be sent alongside the CSRF token. A persistent cookiejar handles this automatically.</a:t>
            </a:r>
            <a:endParaRPr lang="en-US" sz="950" dirty="0"/>
          </a:p>
        </p:txBody>
      </p:sp>
      <p:sp>
        <p:nvSpPr>
          <p:cNvPr id="13" name="Shape 11"/>
          <p:cNvSpPr/>
          <p:nvPr/>
        </p:nvSpPr>
        <p:spPr>
          <a:xfrm>
            <a:off x="5760720" y="3145536"/>
            <a:ext cx="3154680" cy="768096"/>
          </a:xfrm>
          <a:prstGeom prst="rect">
            <a:avLst/>
          </a:prstGeom>
          <a:solidFill>
            <a:srgbClr val="1E293B"/>
          </a:solidFill>
          <a:ln w="12700">
            <a:solidFill>
              <a:srgbClr val="334155"/>
            </a:solidFill>
            <a:prstDash val="solid"/>
          </a:ln>
        </p:spPr>
      </p:sp>
      <p:sp>
        <p:nvSpPr>
          <p:cNvPr id="14" name="Text 12"/>
          <p:cNvSpPr/>
          <p:nvPr/>
        </p:nvSpPr>
        <p:spPr>
          <a:xfrm>
            <a:off x="5870448" y="3200400"/>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ourier New" pitchFamily="34" charset="0"/>
                <a:ea typeface="Courier New" pitchFamily="34" charset="-122"/>
                <a:cs typeface="Courier New" pitchFamily="34" charset="-120"/>
              </a:rPr>
              <a:t>4 min TTL</a:t>
            </a:r>
            <a:endParaRPr lang="en-US" sz="1000" dirty="0"/>
          </a:p>
        </p:txBody>
      </p:sp>
      <p:sp>
        <p:nvSpPr>
          <p:cNvPr id="15" name="Text 13"/>
          <p:cNvSpPr/>
          <p:nvPr/>
        </p:nvSpPr>
        <p:spPr>
          <a:xfrm>
            <a:off x="5870448" y="3474720"/>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Superset access tokens expire after 5 minutes. The cache refreshes at 4 minutes to ensure the token is always valid when used.</a:t>
            </a:r>
            <a:endParaRPr lang="en-US" sz="950" dirty="0"/>
          </a:p>
        </p:txBody>
      </p:sp>
      <p:sp>
        <p:nvSpPr>
          <p:cNvPr id="16" name="Shape 14"/>
          <p:cNvSpPr/>
          <p:nvPr/>
        </p:nvSpPr>
        <p:spPr>
          <a:xfrm>
            <a:off x="5760720" y="4032504"/>
            <a:ext cx="3154680" cy="768096"/>
          </a:xfrm>
          <a:prstGeom prst="rect">
            <a:avLst/>
          </a:prstGeom>
          <a:solidFill>
            <a:srgbClr val="1E293B"/>
          </a:solidFill>
          <a:ln w="12700">
            <a:solidFill>
              <a:srgbClr val="334155"/>
            </a:solidFill>
            <a:prstDash val="solid"/>
          </a:ln>
        </p:spPr>
      </p:sp>
      <p:sp>
        <p:nvSpPr>
          <p:cNvPr id="17" name="Text 15"/>
          <p:cNvSpPr/>
          <p:nvPr/>
        </p:nvSpPr>
        <p:spPr>
          <a:xfrm>
            <a:off x="5870448" y="4087368"/>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ourier New" pitchFamily="34" charset="0"/>
                <a:ea typeface="Courier New" pitchFamily="34" charset="-122"/>
                <a:cs typeface="Courier New" pitchFamily="34" charset="-120"/>
              </a:rPr>
              <a:t>CORS allowlist</a:t>
            </a:r>
            <a:endParaRPr lang="en-US" sz="1000" dirty="0"/>
          </a:p>
        </p:txBody>
      </p:sp>
      <p:sp>
        <p:nvSpPr>
          <p:cNvPr id="18" name="Text 16"/>
          <p:cNvSpPr/>
          <p:nvPr/>
        </p:nvSpPr>
        <p:spPr>
          <a:xfrm>
            <a:off x="5870448" y="4361688"/>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Only origins listed in allowedOrigins (localhost:5173 and :5174 by default) receive CORS headers. Wildcard * is never used.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Svelte Frontend Integration</a:t>
            </a:r>
            <a:endParaRPr lang="en-US" sz="2400" dirty="0"/>
          </a:p>
        </p:txBody>
      </p:sp>
      <p:sp>
        <p:nvSpPr>
          <p:cNvPr id="4" name="Shape 2"/>
          <p:cNvSpPr/>
          <p:nvPr/>
        </p:nvSpPr>
        <p:spPr>
          <a:xfrm>
            <a:off x="274320" y="822960"/>
            <a:ext cx="5212080" cy="4023360"/>
          </a:xfrm>
          <a:prstGeom prst="rect">
            <a:avLst/>
          </a:prstGeom>
          <a:solidFill>
            <a:srgbClr val="0D1117"/>
          </a:solidFill>
          <a:ln w="12700">
            <a:solidFill>
              <a:srgbClr val="30363D"/>
            </a:solidFill>
            <a:prstDash val="solid"/>
          </a:ln>
        </p:spPr>
      </p:sp>
      <p:sp>
        <p:nvSpPr>
          <p:cNvPr id="5" name="Text 3"/>
          <p:cNvSpPr/>
          <p:nvPr/>
        </p:nvSpPr>
        <p:spPr>
          <a:xfrm>
            <a:off x="457200" y="914400"/>
            <a:ext cx="4937760" cy="3794760"/>
          </a:xfrm>
          <a:prstGeom prst="rect">
            <a:avLst/>
          </a:prstGeom>
          <a:noFill/>
          <a:ln/>
        </p:spPr>
        <p:txBody>
          <a:bodyPr wrap="square" lIns="0" tIns="0" rIns="0" bIns="0" rtlCol="0" anchor="t"/>
          <a:lstStyle/>
          <a:p>
            <a:pPr indent="0" marL="0">
              <a:buNone/>
            </a:pPr>
            <a:r>
              <a:rPr lang="en-US" sz="950" dirty="0">
                <a:solidFill>
                  <a:srgbClr val="8B949E"/>
                </a:solidFill>
                <a:latin typeface="Courier New" pitchFamily="34" charset="0"/>
                <a:ea typeface="Courier New" pitchFamily="34" charset="-122"/>
                <a:cs typeface="Courier New" pitchFamily="34" charset="-120"/>
              </a:rPr>
              <a:t>// Dynamic import required -- static import crashes SSR
</a:t>
            </a:r>
            <a:pPr indent="0" marL="0">
              <a:buNone/>
            </a:pPr>
            <a:r>
              <a:rPr lang="en-US" sz="950" dirty="0">
                <a:solidFill>
                  <a:srgbClr val="D2A8FF"/>
                </a:solidFill>
                <a:latin typeface="Courier New" pitchFamily="34" charset="0"/>
                <a:ea typeface="Courier New" pitchFamily="34" charset="-122"/>
                <a:cs typeface="Courier New" pitchFamily="34" charset="-120"/>
              </a:rPr>
              <a:t>onMount</a:t>
            </a:r>
            <a:pPr indent="0" marL="0">
              <a:buNone/>
            </a:pPr>
            <a:r>
              <a:rPr lang="en-US" sz="950" dirty="0">
                <a:solidFill>
                  <a:srgbClr val="C9D1D9"/>
                </a:solidFill>
                <a:latin typeface="Courier New" pitchFamily="34" charset="0"/>
                <a:ea typeface="Courier New" pitchFamily="34" charset="-122"/>
                <a:cs typeface="Courier New" pitchFamily="34" charset="-120"/>
              </a:rPr>
              <a:t>(async () =&gt; {
</a:t>
            </a:r>
            <a:pPr indent="0" marL="0">
              <a:buNone/>
            </a:pPr>
            <a:r>
              <a:rPr lang="en-US" sz="950" dirty="0">
                <a:solidFill>
                  <a:srgbClr val="C9D1D9"/>
                </a:solidFill>
                <a:latin typeface="Courier New" pitchFamily="34" charset="0"/>
                <a:ea typeface="Courier New" pitchFamily="34" charset="-122"/>
                <a:cs typeface="Courier New" pitchFamily="34" charset="-120"/>
              </a:rPr>
              <a:t>  const sdk = await </a:t>
            </a:r>
            <a:pPr indent="0" marL="0">
              <a:buNone/>
            </a:pPr>
            <a:r>
              <a:rPr lang="en-US" sz="950" dirty="0">
                <a:solidFill>
                  <a:srgbClr val="D2A8FF"/>
                </a:solidFill>
                <a:latin typeface="Courier New" pitchFamily="34" charset="0"/>
                <a:ea typeface="Courier New" pitchFamily="34" charset="-122"/>
                <a:cs typeface="Courier New" pitchFamily="34" charset="-120"/>
              </a:rPr>
              <a:t>import</a:t>
            </a:r>
            <a:pPr indent="0" marL="0">
              <a:buNone/>
            </a:pPr>
            <a:r>
              <a:rPr lang="en-US" sz="950" dirty="0">
                <a:solidFill>
                  <a:srgbClr val="A5D6FF"/>
                </a:solidFill>
                <a:latin typeface="Courier New" pitchFamily="34" charset="0"/>
                <a:ea typeface="Courier New" pitchFamily="34" charset="-122"/>
                <a:cs typeface="Courier New" pitchFamily="34" charset="-120"/>
              </a:rPr>
              <a:t>('@superset-ui/embedded-sdk');
</a:t>
            </a:r>
            <a:pPr indent="0" marL="0">
              <a:buNone/>
            </a:pPr>
            <a:r>
              <a:rPr lang="en-US" sz="950" dirty="0">
                <a:solidFill>
                  <a:srgbClr val="C9D1D9"/>
                </a:solidFill>
                <a:latin typeface="Courier New" pitchFamily="34" charset="0"/>
                <a:ea typeface="Courier New" pitchFamily="34" charset="-122"/>
                <a:cs typeface="Courier New" pitchFamily="34" charset="-120"/>
              </a:rPr>
              <a:t>  const embedDashboard =
</a:t>
            </a:r>
            <a:pPr indent="0" marL="0">
              <a:buNone/>
            </a:pPr>
            <a:r>
              <a:rPr lang="en-US" sz="950" dirty="0">
                <a:solidFill>
                  <a:srgbClr val="C9D1D9"/>
                </a:solidFill>
                <a:latin typeface="Courier New" pitchFamily="34" charset="0"/>
                <a:ea typeface="Courier New" pitchFamily="34" charset="-122"/>
                <a:cs typeface="Courier New" pitchFamily="34" charset="-120"/>
              </a:rPr>
              <a:t>    sdk.embedDashboard ?? sdk.default?.embedDashboard;
</a:t>
            </a:r>
            <a:pPr indent="0" marL="0">
              <a:buNone/>
            </a:pPr>
            <a:r>
              <a:rPr lang="en-US" sz="950" dirty="0">
                <a:solidFill>
                  <a:srgbClr val="C9D1D9"/>
                </a:solidFill>
                <a:latin typeface="Courier New" pitchFamily="34" charset="0"/>
                <a:ea typeface="Courier New" pitchFamily="34" charset="-122"/>
                <a:cs typeface="Courier New" pitchFamily="34" charset="-120"/>
              </a:rPr>
              <a:t>  await </a:t>
            </a:r>
            <a:pPr indent="0" marL="0">
              <a:buNone/>
            </a:pPr>
            <a:r>
              <a:rPr lang="en-US" sz="950" dirty="0">
                <a:solidFill>
                  <a:srgbClr val="79C0FF"/>
                </a:solidFill>
                <a:latin typeface="Courier New" pitchFamily="34" charset="0"/>
                <a:ea typeface="Courier New" pitchFamily="34" charset="-122"/>
                <a:cs typeface="Courier New" pitchFamily="34" charset="-120"/>
              </a:rPr>
              <a:t>embedDashboard</a:t>
            </a:r>
            <a:pPr indent="0" marL="0">
              <a:buNone/>
            </a:pPr>
            <a:r>
              <a:rPr lang="en-US" sz="950" dirty="0">
                <a:solidFill>
                  <a:srgbClr val="C9D1D9"/>
                </a:solidFill>
                <a:latin typeface="Courier New" pitchFamily="34" charset="0"/>
                <a:ea typeface="Courier New" pitchFamily="34" charset="-122"/>
                <a:cs typeface="Courier New" pitchFamily="34" charset="-120"/>
              </a:rPr>
              <a:t>({
</a:t>
            </a:r>
            <a:pPr indent="0" marL="0">
              <a:buNone/>
            </a:pPr>
            <a:r>
              <a:rPr lang="en-US" sz="950" dirty="0">
                <a:solidFill>
                  <a:srgbClr val="A5D6FF"/>
                </a:solidFill>
                <a:latin typeface="Courier New" pitchFamily="34" charset="0"/>
                <a:ea typeface="Courier New" pitchFamily="34" charset="-122"/>
                <a:cs typeface="Courier New" pitchFamily="34" charset="-120"/>
              </a:rPr>
              <a:t>    id:              DASHBOARD_ID,
</a:t>
            </a:r>
            <a:pPr indent="0" marL="0">
              <a:buNone/>
            </a:pPr>
            <a:r>
              <a:rPr lang="en-US" sz="950" dirty="0">
                <a:solidFill>
                  <a:srgbClr val="A5D6FF"/>
                </a:solidFill>
                <a:latin typeface="Courier New" pitchFamily="34" charset="0"/>
                <a:ea typeface="Courier New" pitchFamily="34" charset="-122"/>
                <a:cs typeface="Courier New" pitchFamily="34" charset="-120"/>
              </a:rPr>
              <a:t>    supersetDomain: SUPERSET_URL,
</a:t>
            </a:r>
            <a:pPr indent="0" marL="0">
              <a:buNone/>
            </a:pPr>
            <a:r>
              <a:rPr lang="en-US" sz="950" dirty="0">
                <a:solidFill>
                  <a:srgbClr val="A5D6FF"/>
                </a:solidFill>
                <a:latin typeface="Courier New" pitchFamily="34" charset="0"/>
                <a:ea typeface="Courier New" pitchFamily="34" charset="-122"/>
                <a:cs typeface="Courier New" pitchFamily="34" charset="-120"/>
              </a:rPr>
              <a:t>    mountPoint:     container,  // any HTMLElement
</a:t>
            </a:r>
            <a:pPr indent="0" marL="0">
              <a:buNone/>
            </a:pPr>
            <a:r>
              <a:rPr lang="en-US" sz="950" dirty="0">
                <a:solidFill>
                  <a:srgbClr val="8B949E"/>
                </a:solidFill>
                <a:latin typeface="Courier New" pitchFamily="34" charset="0"/>
                <a:ea typeface="Courier New" pitchFamily="34" charset="-122"/>
                <a:cs typeface="Courier New" pitchFamily="34" charset="-120"/>
              </a:rPr>
              <a:t>    fetchGuestToken,            // calls Go backend
</a:t>
            </a:r>
            <a:pPr indent="0" marL="0">
              <a:buNone/>
            </a:pPr>
            <a:r>
              <a:rPr lang="en-US" sz="950" dirty="0">
                <a:solidFill>
                  <a:srgbClr val="A5D6FF"/>
                </a:solidFill>
                <a:latin typeface="Courier New" pitchFamily="34" charset="0"/>
                <a:ea typeface="Courier New" pitchFamily="34" charset="-122"/>
                <a:cs typeface="Courier New" pitchFamily="34" charset="-120"/>
              </a:rPr>
              <a:t>    dashboardUiConfig: {
</a:t>
            </a:r>
            <a:pPr indent="0" marL="0">
              <a:buNone/>
            </a:pPr>
            <a:r>
              <a:rPr lang="en-US" sz="950" dirty="0">
                <a:solidFill>
                  <a:srgbClr val="A5D6FF"/>
                </a:solidFill>
                <a:latin typeface="Courier New" pitchFamily="34" charset="0"/>
                <a:ea typeface="Courier New" pitchFamily="34" charset="-122"/>
                <a:cs typeface="Courier New" pitchFamily="34" charset="-120"/>
              </a:rPr>
              <a:t>      hideTitle: true,
</a:t>
            </a:r>
            <a:pPr indent="0" marL="0">
              <a:buNone/>
            </a:pPr>
            <a:r>
              <a:rPr lang="en-US" sz="950" dirty="0">
                <a:solidFill>
                  <a:srgbClr val="A5D6FF"/>
                </a:solidFill>
                <a:latin typeface="Courier New" pitchFamily="34" charset="0"/>
                <a:ea typeface="Courier New" pitchFamily="34" charset="-122"/>
                <a:cs typeface="Courier New" pitchFamily="34" charset="-120"/>
              </a:rPr>
              <a:t>      filters: { expanded: false },
</a:t>
            </a:r>
            <a:pPr indent="0" marL="0">
              <a:buNone/>
            </a:pPr>
            <a:r>
              <a:rPr lang="en-US" sz="950" dirty="0">
                <a:solidFill>
                  <a:srgbClr val="C9D1D9"/>
                </a:solidFill>
                <a:latin typeface="Courier New" pitchFamily="34" charset="0"/>
                <a:ea typeface="Courier New" pitchFamily="34" charset="-122"/>
                <a:cs typeface="Courier New" pitchFamily="34" charset="-120"/>
              </a:rPr>
              <a:t>    },
</a:t>
            </a:r>
            <a:pPr indent="0" marL="0">
              <a:buNone/>
            </a:pPr>
            <a:r>
              <a:rPr lang="en-US" sz="950" dirty="0">
                <a:solidFill>
                  <a:srgbClr val="C9D1D9"/>
                </a:solidFill>
                <a:latin typeface="Courier New" pitchFamily="34" charset="0"/>
                <a:ea typeface="Courier New" pitchFamily="34" charset="-122"/>
                <a:cs typeface="Courier New" pitchFamily="34" charset="-120"/>
              </a:rPr>
              <a:t>  });
</a:t>
            </a:r>
            <a:pPr indent="0" marL="0">
              <a:buNone/>
            </a:pPr>
            <a:r>
              <a:rPr lang="en-US" sz="950" dirty="0">
                <a:solidFill>
                  <a:srgbClr val="C9D1D9"/>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760720" y="868680"/>
            <a:ext cx="315468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Integration Notes</a:t>
            </a:r>
            <a:endParaRPr lang="en-US" sz="1300" dirty="0"/>
          </a:p>
        </p:txBody>
      </p:sp>
      <p:sp>
        <p:nvSpPr>
          <p:cNvPr id="7" name="Shape 5"/>
          <p:cNvSpPr/>
          <p:nvPr/>
        </p:nvSpPr>
        <p:spPr>
          <a:xfrm>
            <a:off x="5760720" y="1371600"/>
            <a:ext cx="3154680" cy="768096"/>
          </a:xfrm>
          <a:prstGeom prst="rect">
            <a:avLst/>
          </a:prstGeom>
          <a:solidFill>
            <a:srgbClr val="1E293B"/>
          </a:solidFill>
          <a:ln w="12700">
            <a:solidFill>
              <a:srgbClr val="334155"/>
            </a:solidFill>
            <a:prstDash val="solid"/>
          </a:ln>
        </p:spPr>
      </p:sp>
      <p:sp>
        <p:nvSpPr>
          <p:cNvPr id="8" name="Text 6"/>
          <p:cNvSpPr/>
          <p:nvPr/>
        </p:nvSpPr>
        <p:spPr>
          <a:xfrm>
            <a:off x="5870448" y="1426464"/>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alibri" pitchFamily="34" charset="0"/>
                <a:ea typeface="Calibri" pitchFamily="34" charset="-122"/>
                <a:cs typeface="Calibri" pitchFamily="34" charset="-120"/>
              </a:rPr>
              <a:t>SSR safe</a:t>
            </a:r>
            <a:endParaRPr lang="en-US" sz="1000" dirty="0"/>
          </a:p>
        </p:txBody>
      </p:sp>
      <p:sp>
        <p:nvSpPr>
          <p:cNvPr id="9" name="Text 7"/>
          <p:cNvSpPr/>
          <p:nvPr/>
        </p:nvSpPr>
        <p:spPr>
          <a:xfrm>
            <a:off x="5870448" y="1700784"/>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SvelteKit runs server-side rendering at startup. Dynamic import inside onMount ensures the SDK only loads in the browser, where the DOM is available.</a:t>
            </a:r>
            <a:endParaRPr lang="en-US" sz="950" dirty="0"/>
          </a:p>
        </p:txBody>
      </p:sp>
      <p:sp>
        <p:nvSpPr>
          <p:cNvPr id="10" name="Shape 8"/>
          <p:cNvSpPr/>
          <p:nvPr/>
        </p:nvSpPr>
        <p:spPr>
          <a:xfrm>
            <a:off x="5760720" y="2258568"/>
            <a:ext cx="3154680" cy="768096"/>
          </a:xfrm>
          <a:prstGeom prst="rect">
            <a:avLst/>
          </a:prstGeom>
          <a:solidFill>
            <a:srgbClr val="1E293B"/>
          </a:solidFill>
          <a:ln w="12700">
            <a:solidFill>
              <a:srgbClr val="334155"/>
            </a:solidFill>
            <a:prstDash val="solid"/>
          </a:ln>
        </p:spPr>
      </p:sp>
      <p:sp>
        <p:nvSpPr>
          <p:cNvPr id="11" name="Text 9"/>
          <p:cNvSpPr/>
          <p:nvPr/>
        </p:nvSpPr>
        <p:spPr>
          <a:xfrm>
            <a:off x="5870448" y="2313432"/>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alibri" pitchFamily="34" charset="0"/>
                <a:ea typeface="Calibri" pitchFamily="34" charset="-122"/>
                <a:cs typeface="Calibri" pitchFamily="34" charset="-120"/>
              </a:rPr>
              <a:t>CJS module</a:t>
            </a:r>
            <a:endParaRPr lang="en-US" sz="1000" dirty="0"/>
          </a:p>
        </p:txBody>
      </p:sp>
      <p:sp>
        <p:nvSpPr>
          <p:cNvPr id="12" name="Text 10"/>
          <p:cNvSpPr/>
          <p:nvPr/>
        </p:nvSpPr>
        <p:spPr>
          <a:xfrm>
            <a:off x="5870448" y="2587752"/>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@superset-ui/embedded-sdk is CommonJS. The sdk.embedDashboard ?? sdk.default fallback handles both module export shapes.</a:t>
            </a:r>
            <a:endParaRPr lang="en-US" sz="950" dirty="0"/>
          </a:p>
        </p:txBody>
      </p:sp>
      <p:sp>
        <p:nvSpPr>
          <p:cNvPr id="13" name="Shape 11"/>
          <p:cNvSpPr/>
          <p:nvPr/>
        </p:nvSpPr>
        <p:spPr>
          <a:xfrm>
            <a:off x="5760720" y="3145536"/>
            <a:ext cx="3154680" cy="768096"/>
          </a:xfrm>
          <a:prstGeom prst="rect">
            <a:avLst/>
          </a:prstGeom>
          <a:solidFill>
            <a:srgbClr val="1E293B"/>
          </a:solidFill>
          <a:ln w="12700">
            <a:solidFill>
              <a:srgbClr val="334155"/>
            </a:solidFill>
            <a:prstDash val="solid"/>
          </a:ln>
        </p:spPr>
      </p:sp>
      <p:sp>
        <p:nvSpPr>
          <p:cNvPr id="14" name="Text 12"/>
          <p:cNvSpPr/>
          <p:nvPr/>
        </p:nvSpPr>
        <p:spPr>
          <a:xfrm>
            <a:off x="5870448" y="3200400"/>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alibri" pitchFamily="34" charset="0"/>
                <a:ea typeface="Calibri" pitchFamily="34" charset="-122"/>
                <a:cs typeface="Calibri" pitchFamily="34" charset="-120"/>
              </a:rPr>
              <a:t>Container sizing</a:t>
            </a:r>
            <a:endParaRPr lang="en-US" sz="1000" dirty="0"/>
          </a:p>
        </p:txBody>
      </p:sp>
      <p:sp>
        <p:nvSpPr>
          <p:cNvPr id="15" name="Text 13"/>
          <p:cNvSpPr/>
          <p:nvPr/>
        </p:nvSpPr>
        <p:spPr>
          <a:xfrm>
            <a:off x="5870448" y="3474720"/>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The SDK fills whatever HTMLElement is passed as mountPoint. Set .embed-box { height: 600px } in CSS to control the iframe area.</a:t>
            </a:r>
            <a:endParaRPr lang="en-US" sz="950" dirty="0"/>
          </a:p>
        </p:txBody>
      </p:sp>
      <p:sp>
        <p:nvSpPr>
          <p:cNvPr id="16" name="Shape 14"/>
          <p:cNvSpPr/>
          <p:nvPr/>
        </p:nvSpPr>
        <p:spPr>
          <a:xfrm>
            <a:off x="5760720" y="4032504"/>
            <a:ext cx="3154680" cy="768096"/>
          </a:xfrm>
          <a:prstGeom prst="rect">
            <a:avLst/>
          </a:prstGeom>
          <a:solidFill>
            <a:srgbClr val="1E293B"/>
          </a:solidFill>
          <a:ln w="12700">
            <a:solidFill>
              <a:srgbClr val="334155"/>
            </a:solidFill>
            <a:prstDash val="solid"/>
          </a:ln>
        </p:spPr>
      </p:sp>
      <p:sp>
        <p:nvSpPr>
          <p:cNvPr id="17" name="Text 15"/>
          <p:cNvSpPr/>
          <p:nvPr/>
        </p:nvSpPr>
        <p:spPr>
          <a:xfrm>
            <a:off x="5870448" y="4087368"/>
            <a:ext cx="2926080" cy="256032"/>
          </a:xfrm>
          <a:prstGeom prst="rect">
            <a:avLst/>
          </a:prstGeom>
          <a:noFill/>
          <a:ln/>
        </p:spPr>
        <p:txBody>
          <a:bodyPr wrap="square" lIns="0" tIns="0" rIns="0" bIns="0" rtlCol="0" anchor="ctr"/>
          <a:lstStyle/>
          <a:p>
            <a:pPr algn="l" indent="0" marL="0">
              <a:buNone/>
            </a:pPr>
            <a:r>
              <a:rPr lang="en-US" sz="1000" b="1" dirty="0">
                <a:solidFill>
                  <a:srgbClr val="818CF8"/>
                </a:solidFill>
                <a:latin typeface="Calibri" pitchFamily="34" charset="0"/>
                <a:ea typeface="Calibri" pitchFamily="34" charset="-122"/>
                <a:cs typeface="Calibri" pitchFamily="34" charset="-120"/>
              </a:rPr>
              <a:t>Token refresh</a:t>
            </a:r>
            <a:endParaRPr lang="en-US" sz="1000" dirty="0"/>
          </a:p>
        </p:txBody>
      </p:sp>
      <p:sp>
        <p:nvSpPr>
          <p:cNvPr id="18" name="Text 16"/>
          <p:cNvSpPr/>
          <p:nvPr/>
        </p:nvSpPr>
        <p:spPr>
          <a:xfrm>
            <a:off x="5870448" y="4361688"/>
            <a:ext cx="2926080" cy="38404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The fetchGuestToken callback is called again automatically when the 5-minute guest token expires, so the user never needs to reload.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Superset Configuration</a:t>
            </a:r>
            <a:endParaRPr lang="en-US" sz="2400" dirty="0"/>
          </a:p>
        </p:txBody>
      </p:sp>
      <p:sp>
        <p:nvSpPr>
          <p:cNvPr id="4" name="Shape 2"/>
          <p:cNvSpPr/>
          <p:nvPr/>
        </p:nvSpPr>
        <p:spPr>
          <a:xfrm>
            <a:off x="274320" y="822960"/>
            <a:ext cx="4114800" cy="2651760"/>
          </a:xfrm>
          <a:prstGeom prst="rect">
            <a:avLst/>
          </a:prstGeom>
          <a:solidFill>
            <a:srgbClr val="0D1117"/>
          </a:solidFill>
          <a:ln w="12700">
            <a:solidFill>
              <a:srgbClr val="30363D"/>
            </a:solidFill>
            <a:prstDash val="solid"/>
          </a:ln>
        </p:spPr>
      </p:sp>
      <p:sp>
        <p:nvSpPr>
          <p:cNvPr id="5" name="Text 3"/>
          <p:cNvSpPr/>
          <p:nvPr/>
        </p:nvSpPr>
        <p:spPr>
          <a:xfrm>
            <a:off x="274320" y="822960"/>
            <a:ext cx="4023360" cy="256032"/>
          </a:xfrm>
          <a:prstGeom prst="rect">
            <a:avLst/>
          </a:prstGeom>
          <a:noFill/>
          <a:ln/>
        </p:spPr>
        <p:txBody>
          <a:bodyPr wrap="square" lIns="0" tIns="0" rIns="0" bIns="0" rtlCol="0" anchor="ctr"/>
          <a:lstStyle/>
          <a:p>
            <a:pPr algn="r" indent="0" marL="0">
              <a:buNone/>
            </a:pPr>
            <a:r>
              <a:rPr lang="en-US" sz="850" dirty="0">
                <a:solidFill>
                  <a:srgbClr val="8B949E"/>
                </a:solidFill>
                <a:latin typeface="Calibri" pitchFamily="34" charset="0"/>
                <a:ea typeface="Calibri" pitchFamily="34" charset="-122"/>
                <a:cs typeface="Calibri" pitchFamily="34" charset="-120"/>
              </a:rPr>
              <a:t>superset_config.py</a:t>
            </a:r>
            <a:endParaRPr lang="en-US" sz="850" dirty="0"/>
          </a:p>
        </p:txBody>
      </p:sp>
      <p:sp>
        <p:nvSpPr>
          <p:cNvPr id="6" name="Text 4"/>
          <p:cNvSpPr/>
          <p:nvPr/>
        </p:nvSpPr>
        <p:spPr>
          <a:xfrm>
            <a:off x="457200" y="1143000"/>
            <a:ext cx="3840480" cy="2194560"/>
          </a:xfrm>
          <a:prstGeom prst="rect">
            <a:avLst/>
          </a:prstGeom>
          <a:noFill/>
          <a:ln/>
        </p:spPr>
        <p:txBody>
          <a:bodyPr wrap="square" lIns="0" tIns="0" rIns="0" bIns="0" rtlCol="0" anchor="t"/>
          <a:lstStyle/>
          <a:p>
            <a:pPr indent="0" marL="0">
              <a:buNone/>
            </a:pPr>
            <a:r>
              <a:rPr lang="en-US" sz="1050" dirty="0">
                <a:solidFill>
                  <a:srgbClr val="C9D1D9"/>
                </a:solidFill>
                <a:latin typeface="Courier New" pitchFamily="34" charset="0"/>
                <a:ea typeface="Courier New" pitchFamily="34" charset="-122"/>
                <a:cs typeface="Courier New" pitchFamily="34" charset="-120"/>
              </a:rPr>
              <a:t>FEATURE_FLAGS = {
</a:t>
            </a:r>
            <a:pPr indent="0" marL="0">
              <a:buNone/>
            </a:pPr>
            <a:r>
              <a:rPr lang="en-US" sz="1050" dirty="0">
                <a:solidFill>
                  <a:srgbClr val="C9D1D9"/>
                </a:solidFill>
                <a:latin typeface="Courier New" pitchFamily="34" charset="0"/>
                <a:ea typeface="Courier New" pitchFamily="34" charset="-122"/>
                <a:cs typeface="Courier New" pitchFamily="34" charset="-120"/>
              </a:rPr>
              <a:t>    "EMBEDDED_SUPERSET": </a:t>
            </a:r>
            <a:pPr indent="0" marL="0">
              <a:buNone/>
            </a:pPr>
            <a:r>
              <a:rPr lang="en-US" sz="1050" dirty="0">
                <a:solidFill>
                  <a:srgbClr val="79C0FF"/>
                </a:solidFill>
                <a:latin typeface="Courier New" pitchFamily="34" charset="0"/>
                <a:ea typeface="Courier New" pitchFamily="34" charset="-122"/>
                <a:cs typeface="Courier New" pitchFamily="34" charset="-120"/>
              </a:rPr>
              <a:t>True
</a:t>
            </a:r>
            <a:pPr indent="0" marL="0">
              <a:buNone/>
            </a:pPr>
            <a:r>
              <a:rPr lang="en-US" sz="1050" dirty="0">
                <a:solidFill>
                  <a:srgbClr val="C9D1D9"/>
                </a:solidFill>
                <a:latin typeface="Courier New" pitchFamily="34" charset="0"/>
                <a:ea typeface="Courier New" pitchFamily="34" charset="-122"/>
                <a:cs typeface="Courier New" pitchFamily="34" charset="-120"/>
              </a:rPr>
              <a:t>}
</a:t>
            </a:r>
            <a:pPr indent="0" marL="0">
              <a:buNone/>
            </a:pPr>
            <a:r>
              <a:rPr lang="en-US" sz="1050" dirty="0">
                <a:solidFill>
                  <a:srgbClr val="C9D1D9"/>
                </a:solidFill>
                <a:latin typeface="Courier New" pitchFamily="34" charset="0"/>
                <a:ea typeface="Courier New" pitchFamily="34" charset="-122"/>
                <a:cs typeface="Courier New" pitchFamily="34" charset="-120"/>
              </a:rPr>
              <a:t>HTTP_HEADERS = {
</a:t>
            </a:r>
            <a:pPr indent="0" marL="0">
              <a:buNone/>
            </a:pPr>
            <a:r>
              <a:rPr lang="en-US" sz="1050" dirty="0">
                <a:solidFill>
                  <a:srgbClr val="A5D6FF"/>
                </a:solidFill>
                <a:latin typeface="Courier New" pitchFamily="34" charset="0"/>
                <a:ea typeface="Courier New" pitchFamily="34" charset="-122"/>
                <a:cs typeface="Courier New" pitchFamily="34" charset="-120"/>
              </a:rPr>
              <a:t>    "X-Frame-Options": "ALLOWALL"
</a:t>
            </a:r>
            <a:pPr indent="0" marL="0">
              <a:buNone/>
            </a:pPr>
            <a:r>
              <a:rPr lang="en-US" sz="1050" dirty="0">
                <a:solidFill>
                  <a:srgbClr val="C9D1D9"/>
                </a:solidFill>
                <a:latin typeface="Courier New" pitchFamily="34" charset="0"/>
                <a:ea typeface="Courier New" pitchFamily="34" charset="-122"/>
                <a:cs typeface="Courier New" pitchFamily="34" charset="-120"/>
              </a:rPr>
              <a:t>}
</a:t>
            </a:r>
            <a:pPr indent="0" marL="0">
              <a:buNone/>
            </a:pPr>
            <a:r>
              <a:rPr lang="en-US" sz="1050" dirty="0">
                <a:solidFill>
                  <a:srgbClr val="C9D1D9"/>
                </a:solidFill>
                <a:latin typeface="Courier New" pitchFamily="34" charset="0"/>
                <a:ea typeface="Courier New" pitchFamily="34" charset="-122"/>
                <a:cs typeface="Courier New" pitchFamily="34" charset="-120"/>
              </a:rPr>
              <a:t>TALISMAN_ENABLED = </a:t>
            </a:r>
            <a:pPr indent="0" marL="0">
              <a:buNone/>
            </a:pPr>
            <a:r>
              <a:rPr lang="en-US" sz="1050" dirty="0">
                <a:solidFill>
                  <a:srgbClr val="79C0FF"/>
                </a:solidFill>
                <a:latin typeface="Courier New" pitchFamily="34" charset="0"/>
                <a:ea typeface="Courier New" pitchFamily="34" charset="-122"/>
                <a:cs typeface="Courier New" pitchFamily="34" charset="-120"/>
              </a:rPr>
              <a:t>False</a:t>
            </a:r>
            <a:endParaRPr lang="en-US" sz="1050" dirty="0"/>
          </a:p>
        </p:txBody>
      </p:sp>
      <p:sp>
        <p:nvSpPr>
          <p:cNvPr id="7" name="Text 5"/>
          <p:cNvSpPr/>
          <p:nvPr/>
        </p:nvSpPr>
        <p:spPr>
          <a:xfrm>
            <a:off x="4663440" y="822960"/>
            <a:ext cx="4251960"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Public Role Permissions Required</a:t>
            </a:r>
            <a:endParaRPr lang="en-US" sz="1300" dirty="0"/>
          </a:p>
        </p:txBody>
      </p:sp>
      <p:sp>
        <p:nvSpPr>
          <p:cNvPr id="8" name="Text 6"/>
          <p:cNvSpPr/>
          <p:nvPr/>
        </p:nvSpPr>
        <p:spPr>
          <a:xfrm>
            <a:off x="4663440" y="1188720"/>
            <a:ext cx="4251960" cy="256032"/>
          </a:xfrm>
          <a:prstGeom prst="rect">
            <a:avLst/>
          </a:prstGeom>
          <a:noFill/>
          <a:ln/>
        </p:spPr>
        <p:txBody>
          <a:bodyPr wrap="square" lIns="0" tIns="0" rIns="0" bIns="0" rtlCol="0" anchor="ctr"/>
          <a:lstStyle/>
          <a:p>
            <a:pPr algn="l" indent="0" marL="0">
              <a:buNone/>
            </a:pPr>
            <a:r>
              <a:rPr lang="en-US" sz="950" dirty="0">
                <a:solidFill>
                  <a:srgbClr val="64748B"/>
                </a:solidFill>
                <a:latin typeface="Calibri" pitchFamily="34" charset="0"/>
                <a:ea typeface="Calibri" pitchFamily="34" charset="-122"/>
                <a:cs typeface="Calibri" pitchFamily="34" charset="-120"/>
              </a:rPr>
              <a:t>Grant via: Settings &gt; List Roles &gt; Public &gt; Edit</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1481328"/>
          <a:ext cx="4251960" cy="1965960"/>
        </p:xfrm>
        <a:graphic>
          <a:graphicData uri="http://schemas.openxmlformats.org/drawingml/2006/table">
            <a:tbl>
              <a:tblPr/>
              <a:tblGrid>
                <a:gridCol w="1920240"/>
                <a:gridCol w="2331720"/>
              </a:tblGrid>
              <a:tr h="280851">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Permission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View / Resource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can_read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Chart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can_read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can_read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EmbeddedDashboard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can_explore_json</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Superset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can_dashboard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Superset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0851">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datasource_access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[PostgreSQL].[sales]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Shape 7"/>
          <p:cNvSpPr/>
          <p:nvPr/>
        </p:nvSpPr>
        <p:spPr>
          <a:xfrm>
            <a:off x="274320" y="3703320"/>
            <a:ext cx="8595360" cy="1078992"/>
          </a:xfrm>
          <a:prstGeom prst="rect">
            <a:avLst/>
          </a:prstGeom>
          <a:solidFill>
            <a:srgbClr val="FEF3C7"/>
          </a:solidFill>
          <a:ln w="12700">
            <a:solidFill>
              <a:srgbClr val="FDE68A"/>
            </a:solidFill>
            <a:prstDash val="solid"/>
          </a:ln>
        </p:spPr>
      </p:sp>
      <p:sp>
        <p:nvSpPr>
          <p:cNvPr id="11" name="Text 8"/>
          <p:cNvSpPr/>
          <p:nvPr/>
        </p:nvSpPr>
        <p:spPr>
          <a:xfrm>
            <a:off x="457200" y="3749040"/>
            <a:ext cx="8229600" cy="329184"/>
          </a:xfrm>
          <a:prstGeom prst="rect">
            <a:avLst/>
          </a:prstGeom>
          <a:noFill/>
          <a:ln/>
        </p:spPr>
        <p:txBody>
          <a:bodyPr wrap="square" lIns="0" tIns="0" rIns="0" bIns="0" rtlCol="0" anchor="ctr"/>
          <a:lstStyle/>
          <a:p>
            <a:pPr algn="l" indent="0" marL="0">
              <a:buNone/>
            </a:pPr>
            <a:r>
              <a:rPr lang="en-US" sz="1150" b="1" dirty="0">
                <a:solidFill>
                  <a:srgbClr val="92400E"/>
                </a:solidFill>
                <a:latin typeface="Calibri" pitchFamily="34" charset="0"/>
                <a:ea typeface="Calibri" pitchFamily="34" charset="-122"/>
                <a:cs typeface="Calibri" pitchFamily="34" charset="-120"/>
              </a:rPr>
              <a:t>Allowed Domain: must include the full origin with scheme (http:// or https://)</a:t>
            </a:r>
            <a:endParaRPr lang="en-US" sz="1150" dirty="0"/>
          </a:p>
        </p:txBody>
      </p:sp>
      <p:sp>
        <p:nvSpPr>
          <p:cNvPr id="12" name="Text 9"/>
          <p:cNvSpPr/>
          <p:nvPr/>
        </p:nvSpPr>
        <p:spPr>
          <a:xfrm>
            <a:off x="457200" y="4114800"/>
            <a:ext cx="8229600" cy="347472"/>
          </a:xfrm>
          <a:prstGeom prst="rect">
            <a:avLst/>
          </a:prstGeom>
          <a:noFill/>
          <a:ln/>
        </p:spPr>
        <p:txBody>
          <a:bodyPr wrap="square" lIns="0" tIns="0" rIns="0" bIns="0" rtlCol="0" anchor="ctr"/>
          <a:lstStyle/>
          <a:p>
            <a:pPr algn="l" indent="0" marL="0">
              <a:buNone/>
            </a:pPr>
            <a:r>
              <a:rPr lang="en-US" sz="1100" b="1" dirty="0">
                <a:solidFill>
                  <a:srgbClr val="16A34A"/>
                </a:solidFill>
                <a:latin typeface="Calibri" pitchFamily="34" charset="0"/>
                <a:ea typeface="Calibri" pitchFamily="34" charset="-122"/>
                <a:cs typeface="Calibri" pitchFamily="34" charset="-120"/>
              </a:rPr>
              <a:t>http://localhost:5173</a:t>
            </a:r>
            <a:pPr algn="l" indent="0" marL="0">
              <a:buNone/>
            </a:pPr>
            <a:r>
              <a:rPr lang="en-US" sz="1100" dirty="0">
                <a:solidFill>
                  <a:srgbClr val="92400E"/>
                </a:solidFill>
                <a:latin typeface="Calibri" pitchFamily="34" charset="0"/>
                <a:ea typeface="Calibri" pitchFamily="34" charset="-122"/>
                <a:cs typeface="Calibri" pitchFamily="34" charset="-120"/>
              </a:rPr>
              <a:t>  is correct.   </a:t>
            </a:r>
            <a:pPr algn="l" indent="0" marL="0">
              <a:buNone/>
            </a:pPr>
            <a:r>
              <a:rPr lang="en-US" sz="1100" b="1" dirty="0">
                <a:solidFill>
                  <a:srgbClr val="EF4444"/>
                </a:solidFill>
                <a:latin typeface="Calibri" pitchFamily="34" charset="0"/>
                <a:ea typeface="Calibri" pitchFamily="34" charset="-122"/>
                <a:cs typeface="Calibri" pitchFamily="34" charset="-120"/>
              </a:rPr>
              <a:t>localhost:5173</a:t>
            </a:r>
            <a:pPr algn="l" indent="0" marL="0">
              <a:buNone/>
            </a:pPr>
            <a:r>
              <a:rPr lang="en-US" sz="1100" dirty="0">
                <a:solidFill>
                  <a:srgbClr val="92400E"/>
                </a:solidFill>
                <a:latin typeface="Calibri" pitchFamily="34" charset="0"/>
                <a:ea typeface="Calibri" pitchFamily="34" charset="-122"/>
                <a:cs typeface="Calibri" pitchFamily="34" charset="-120"/>
              </a:rPr>
              <a:t>  or  </a:t>
            </a:r>
            <a:pPr algn="l" indent="0" marL="0">
              <a:buNone/>
            </a:pPr>
            <a:r>
              <a:rPr lang="en-US" sz="1100" b="1" dirty="0">
                <a:solidFill>
                  <a:srgbClr val="EF4444"/>
                </a:solidFill>
                <a:latin typeface="Calibri" pitchFamily="34" charset="0"/>
                <a:ea typeface="Calibri" pitchFamily="34" charset="-122"/>
                <a:cs typeface="Calibri" pitchFamily="34" charset="-120"/>
              </a:rPr>
              <a:t>localhost</a:t>
            </a:r>
            <a:pPr algn="l" indent="0" marL="0">
              <a:buNone/>
            </a:pPr>
            <a:r>
              <a:rPr lang="en-US" sz="1100" dirty="0">
                <a:solidFill>
                  <a:srgbClr val="92400E"/>
                </a:solidFill>
                <a:latin typeface="Calibri" pitchFamily="34" charset="0"/>
                <a:ea typeface="Calibri" pitchFamily="34" charset="-122"/>
                <a:cs typeface="Calibri" pitchFamily="34" charset="-120"/>
              </a:rPr>
              <a:t>  will both result in 403 Forbidden on iframe load.</a:t>
            </a:r>
            <a:endParaRPr lang="en-US" sz="1100" dirty="0"/>
          </a:p>
        </p:txBody>
      </p:sp>
      <p:sp>
        <p:nvSpPr>
          <p:cNvPr id="13" name="Text 10"/>
          <p:cNvSpPr/>
          <p:nvPr/>
        </p:nvSpPr>
        <p:spPr>
          <a:xfrm>
            <a:off x="457200" y="4480560"/>
            <a:ext cx="8229600" cy="274320"/>
          </a:xfrm>
          <a:prstGeom prst="rect">
            <a:avLst/>
          </a:prstGeom>
          <a:noFill/>
          <a:ln/>
        </p:spPr>
        <p:txBody>
          <a:bodyPr wrap="square" lIns="0" tIns="0" rIns="0" bIns="0" rtlCol="0" anchor="ctr"/>
          <a:lstStyle/>
          <a:p>
            <a:pPr algn="l" indent="0" marL="0">
              <a:buNone/>
            </a:pPr>
            <a:r>
              <a:rPr lang="en-US" sz="1000" dirty="0">
                <a:solidFill>
                  <a:srgbClr val="B45309"/>
                </a:solidFill>
                <a:latin typeface="Calibri" pitchFamily="34" charset="0"/>
                <a:ea typeface="Calibri" pitchFamily="34" charset="-122"/>
                <a:cs typeface="Calibri" pitchFamily="34" charset="-120"/>
              </a:rPr>
              <a:t>Set via: Dashboard &gt; ... &gt; Embed dashboard &gt; Allowed Domains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Row-Level Security (RLS)</a:t>
            </a:r>
            <a:endParaRPr lang="en-US" sz="2400" dirty="0"/>
          </a:p>
        </p:txBody>
      </p:sp>
      <p:sp>
        <p:nvSpPr>
          <p:cNvPr id="4" name="Text 2"/>
          <p:cNvSpPr/>
          <p:nvPr/>
        </p:nvSpPr>
        <p:spPr>
          <a:xfrm>
            <a:off x="365760" y="777240"/>
            <a:ext cx="8412480" cy="658368"/>
          </a:xfrm>
          <a:prstGeom prst="rect">
            <a:avLst/>
          </a:prstGeom>
          <a:noFill/>
          <a:ln/>
        </p:spPr>
        <p:txBody>
          <a:bodyPr wrap="square" lIns="0" tIns="0" rIns="0" bIns="0" rtlCol="0" anchor="ctr"/>
          <a:lstStyle/>
          <a:p>
            <a:pPr algn="l" indent="0" marL="0">
              <a:buNone/>
            </a:pPr>
            <a:r>
              <a:rPr lang="en-US" sz="1150" dirty="0">
                <a:solidFill>
                  <a:srgbClr val="94A3B8"/>
                </a:solidFill>
                <a:latin typeface="Calibri" pitchFamily="34" charset="0"/>
                <a:ea typeface="Calibri" pitchFamily="34" charset="-122"/>
                <a:cs typeface="Calibri" pitchFamily="34" charset="-120"/>
              </a:rPr>
              <a:t>RLS clauses are SQL WHERE fragments embedded in the guest token payload. Superset appends them to every query it runs for that session. The restriction is enforced at the database level -- a user cannot bypass it by modifying the URL or request headers.</a:t>
            </a:r>
            <a:endParaRPr lang="en-US" sz="1150" dirty="0"/>
          </a:p>
        </p:txBody>
      </p:sp>
      <p:sp>
        <p:nvSpPr>
          <p:cNvPr id="5" name="Shape 3"/>
          <p:cNvSpPr/>
          <p:nvPr/>
        </p:nvSpPr>
        <p:spPr>
          <a:xfrm>
            <a:off x="274320" y="1536192"/>
            <a:ext cx="4937760" cy="3291840"/>
          </a:xfrm>
          <a:prstGeom prst="rect">
            <a:avLst/>
          </a:prstGeom>
          <a:solidFill>
            <a:srgbClr val="0D1117"/>
          </a:solidFill>
          <a:ln w="12700">
            <a:solidFill>
              <a:srgbClr val="30363D"/>
            </a:solidFill>
            <a:prstDash val="solid"/>
          </a:ln>
        </p:spPr>
      </p:sp>
      <p:sp>
        <p:nvSpPr>
          <p:cNvPr id="6" name="Text 4"/>
          <p:cNvSpPr/>
          <p:nvPr/>
        </p:nvSpPr>
        <p:spPr>
          <a:xfrm>
            <a:off x="457200" y="1627632"/>
            <a:ext cx="4663440" cy="3063240"/>
          </a:xfrm>
          <a:prstGeom prst="rect">
            <a:avLst/>
          </a:prstGeom>
          <a:noFill/>
          <a:ln/>
        </p:spPr>
        <p:txBody>
          <a:bodyPr wrap="square" lIns="0" tIns="0" rIns="0" bIns="0" rtlCol="0" anchor="t"/>
          <a:lstStyle/>
          <a:p>
            <a:pPr indent="0" marL="0">
              <a:buNone/>
            </a:pPr>
            <a:r>
              <a:rPr lang="en-US" sz="950" dirty="0">
                <a:solidFill>
                  <a:srgbClr val="8B949E"/>
                </a:solidFill>
                <a:latin typeface="Courier New" pitchFamily="34" charset="0"/>
                <a:ea typeface="Courier New" pitchFamily="34" charset="-122"/>
                <a:cs typeface="Courier New" pitchFamily="34" charset="-120"/>
              </a:rPr>
              <a:t>// Current state: empty slice = no restriction
</a:t>
            </a:r>
            <a:pPr indent="0" marL="0">
              <a:buNone/>
            </a:pPr>
            <a:r>
              <a:rPr lang="en-US" sz="950" dirty="0">
                <a:solidFill>
                  <a:srgbClr val="C9D1D9"/>
                </a:solidFill>
                <a:latin typeface="Courier New" pitchFamily="34" charset="0"/>
                <a:ea typeface="Courier New" pitchFamily="34" charset="-122"/>
                <a:cs typeface="Courier New" pitchFamily="34" charset="-120"/>
              </a:rPr>
              <a:t>"rls": </a:t>
            </a:r>
            <a:pPr indent="0" marL="0">
              <a:buNone/>
            </a:pPr>
            <a:r>
              <a:rPr lang="en-US" sz="950" dirty="0">
                <a:solidFill>
                  <a:srgbClr val="F97316"/>
                </a:solidFill>
                <a:latin typeface="Courier New" pitchFamily="34" charset="0"/>
                <a:ea typeface="Courier New" pitchFamily="34" charset="-122"/>
                <a:cs typeface="Courier New" pitchFamily="34" charset="-120"/>
              </a:rPr>
              <a:t>[]any{}
</a:t>
            </a:r>
            <a:pPr indent="0" marL="0">
              <a:buNone/>
            </a:pPr>
            <a:r>
              <a:rPr lang="en-US" sz="950" dirty="0">
                <a:solidFill>
                  <a:srgbClr val="8B949E"/>
                </a:solidFill>
                <a:latin typeface="Courier New" pitchFamily="34" charset="0"/>
                <a:ea typeface="Courier New" pitchFamily="34" charset="-122"/>
                <a:cs typeface="Courier New" pitchFamily="34" charset="-120"/>
              </a:rPr>
              <a:t>// Planned: compute clauses from user session
</a:t>
            </a:r>
            <a:pPr indent="0" marL="0">
              <a:buNone/>
            </a:pPr>
            <a:r>
              <a:rPr lang="en-US" sz="950" dirty="0">
                <a:solidFill>
                  <a:srgbClr val="D2A8FF"/>
                </a:solidFill>
                <a:latin typeface="Courier New" pitchFamily="34" charset="0"/>
                <a:ea typeface="Courier New" pitchFamily="34" charset="-122"/>
                <a:cs typeface="Courier New" pitchFamily="34" charset="-120"/>
              </a:rPr>
              <a:t>switch </a:t>
            </a:r>
            <a:pPr indent="0" marL="0">
              <a:buNone/>
            </a:pPr>
            <a:r>
              <a:rPr lang="en-US" sz="950" dirty="0">
                <a:solidFill>
                  <a:srgbClr val="C9D1D9"/>
                </a:solidFill>
                <a:latin typeface="Courier New" pitchFamily="34" charset="0"/>
                <a:ea typeface="Courier New" pitchFamily="34" charset="-122"/>
                <a:cs typeface="Courier New" pitchFamily="34" charset="-120"/>
              </a:rPr>
              <a:t>userRegion {
</a:t>
            </a:r>
            <a:pPr indent="0" marL="0">
              <a:buNone/>
            </a:pPr>
            <a:r>
              <a:rPr lang="en-US" sz="950" dirty="0">
                <a:solidFill>
                  <a:srgbClr val="A5D6FF"/>
                </a:solidFill>
                <a:latin typeface="Courier New" pitchFamily="34" charset="0"/>
                <a:ea typeface="Courier New" pitchFamily="34" charset="-122"/>
                <a:cs typeface="Courier New" pitchFamily="34" charset="-120"/>
              </a:rPr>
              <a:t>case "north":
</a:t>
            </a:r>
            <a:pPr indent="0" marL="0">
              <a:buNone/>
            </a:pPr>
            <a:r>
              <a:rPr lang="en-US" sz="950" dirty="0">
                <a:solidFill>
                  <a:srgbClr val="C9D1D9"/>
                </a:solidFill>
                <a:latin typeface="Courier New" pitchFamily="34" charset="0"/>
                <a:ea typeface="Courier New" pitchFamily="34" charset="-122"/>
                <a:cs typeface="Courier New" pitchFamily="34" charset="-120"/>
              </a:rPr>
              <a:t>  rls = append(rls, map[string]string{
</a:t>
            </a:r>
            <a:pPr indent="0" marL="0">
              <a:buNone/>
            </a:pPr>
            <a:r>
              <a:rPr lang="en-US" sz="950" dirty="0">
                <a:solidFill>
                  <a:srgbClr val="A5D6FF"/>
                </a:solidFill>
                <a:latin typeface="Courier New" pitchFamily="34" charset="0"/>
                <a:ea typeface="Courier New" pitchFamily="34" charset="-122"/>
                <a:cs typeface="Courier New" pitchFamily="34" charset="-120"/>
              </a:rPr>
              <a:t>    "clause": "region = 'North'",
</a:t>
            </a:r>
            <a:pPr indent="0" marL="0">
              <a:buNone/>
            </a:pPr>
            <a:r>
              <a:rPr lang="en-US" sz="950" dirty="0">
                <a:solidFill>
                  <a:srgbClr val="C9D1D9"/>
                </a:solidFill>
                <a:latin typeface="Courier New" pitchFamily="34" charset="0"/>
                <a:ea typeface="Courier New" pitchFamily="34" charset="-122"/>
                <a:cs typeface="Courier New" pitchFamily="34" charset="-120"/>
              </a:rPr>
              <a:t>  })
</a:t>
            </a:r>
            <a:pPr indent="0" marL="0">
              <a:buNone/>
            </a:pPr>
            <a:r>
              <a:rPr lang="en-US" sz="950" dirty="0">
                <a:solidFill>
                  <a:srgbClr val="C9D1D9"/>
                </a:solidFill>
                <a:latin typeface="Courier New" pitchFamily="34" charset="0"/>
                <a:ea typeface="Courier New" pitchFamily="34" charset="-122"/>
                <a:cs typeface="Courier New" pitchFamily="34" charset="-120"/>
              </a:rPr>
              <a:t>}
</a:t>
            </a:r>
            <a:pPr indent="0" marL="0">
              <a:buNone/>
            </a:pPr>
            <a:r>
              <a:rPr lang="en-US" sz="950" dirty="0">
                <a:solidFill>
                  <a:srgbClr val="8B949E"/>
                </a:solidFill>
                <a:latin typeface="Courier New" pitchFamily="34" charset="0"/>
                <a:ea typeface="Courier New" pitchFamily="34" charset="-122"/>
                <a:cs typeface="Courier New" pitchFamily="34" charset="-120"/>
              </a:rPr>
              <a:t>// Multiple clauses combine with AND:
</a:t>
            </a:r>
            <a:pPr indent="0" marL="0">
              <a:buNone/>
            </a:pPr>
            <a:r>
              <a:rPr lang="en-US" sz="950" dirty="0">
                <a:solidFill>
                  <a:srgbClr val="8B949E"/>
                </a:solidFill>
                <a:latin typeface="Courier New" pitchFamily="34" charset="0"/>
                <a:ea typeface="Courier New" pitchFamily="34" charset="-122"/>
                <a:cs typeface="Courier New" pitchFamily="34" charset="-120"/>
              </a:rPr>
              <a:t>// region = 'North' AND category = 'Electronics'</a:t>
            </a:r>
            <a:endParaRPr lang="en-US" sz="950" dirty="0"/>
          </a:p>
        </p:txBody>
      </p:sp>
      <p:sp>
        <p:nvSpPr>
          <p:cNvPr id="7" name="Text 5"/>
          <p:cNvSpPr/>
          <p:nvPr/>
        </p:nvSpPr>
        <p:spPr>
          <a:xfrm>
            <a:off x="5486400" y="1572768"/>
            <a:ext cx="3383280" cy="3200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Enforcement Flow</a:t>
            </a:r>
            <a:endParaRPr lang="en-US" sz="1300" dirty="0"/>
          </a:p>
        </p:txBody>
      </p:sp>
      <p:sp>
        <p:nvSpPr>
          <p:cNvPr id="8" name="Shape 6"/>
          <p:cNvSpPr/>
          <p:nvPr/>
        </p:nvSpPr>
        <p:spPr>
          <a:xfrm>
            <a:off x="5486400" y="2048256"/>
            <a:ext cx="347472" cy="347472"/>
          </a:xfrm>
          <a:prstGeom prst="ellipse">
            <a:avLst/>
          </a:prstGeom>
          <a:solidFill>
            <a:srgbClr val="6366F1"/>
          </a:solidFill>
          <a:ln w="12700">
            <a:solidFill>
              <a:srgbClr val="6366F1"/>
            </a:solidFill>
            <a:prstDash val="solid"/>
          </a:ln>
        </p:spPr>
      </p:sp>
      <p:sp>
        <p:nvSpPr>
          <p:cNvPr id="9" name="Text 7"/>
          <p:cNvSpPr/>
          <p:nvPr/>
        </p:nvSpPr>
        <p:spPr>
          <a:xfrm>
            <a:off x="5486400" y="20482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5943600" y="1993392"/>
            <a:ext cx="2926080" cy="475488"/>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Request arrives at Go backend with user session</a:t>
            </a:r>
            <a:endParaRPr lang="en-US" sz="1050" dirty="0"/>
          </a:p>
        </p:txBody>
      </p:sp>
      <p:sp>
        <p:nvSpPr>
          <p:cNvPr id="11" name="Shape 9"/>
          <p:cNvSpPr/>
          <p:nvPr/>
        </p:nvSpPr>
        <p:spPr>
          <a:xfrm>
            <a:off x="5486400" y="2642616"/>
            <a:ext cx="347472" cy="347472"/>
          </a:xfrm>
          <a:prstGeom prst="ellipse">
            <a:avLst/>
          </a:prstGeom>
          <a:solidFill>
            <a:srgbClr val="00ACD7"/>
          </a:solidFill>
          <a:ln w="12700">
            <a:solidFill>
              <a:srgbClr val="00ACD7"/>
            </a:solidFill>
            <a:prstDash val="solid"/>
          </a:ln>
        </p:spPr>
      </p:sp>
      <p:sp>
        <p:nvSpPr>
          <p:cNvPr id="12" name="Text 10"/>
          <p:cNvSpPr/>
          <p:nvPr/>
        </p:nvSpPr>
        <p:spPr>
          <a:xfrm>
            <a:off x="5486400" y="2642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943600" y="2587752"/>
            <a:ext cx="2926080" cy="475488"/>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Go computes RLS clauses from the user's role or tenant ID</a:t>
            </a:r>
            <a:endParaRPr lang="en-US" sz="1050" dirty="0"/>
          </a:p>
        </p:txBody>
      </p:sp>
      <p:sp>
        <p:nvSpPr>
          <p:cNvPr id="14" name="Shape 12"/>
          <p:cNvSpPr/>
          <p:nvPr/>
        </p:nvSpPr>
        <p:spPr>
          <a:xfrm>
            <a:off x="5486400" y="3236976"/>
            <a:ext cx="347472" cy="347472"/>
          </a:xfrm>
          <a:prstGeom prst="ellipse">
            <a:avLst/>
          </a:prstGeom>
          <a:solidFill>
            <a:srgbClr val="10B981"/>
          </a:solidFill>
          <a:ln w="12700">
            <a:solidFill>
              <a:srgbClr val="10B981"/>
            </a:solidFill>
            <a:prstDash val="solid"/>
          </a:ln>
        </p:spPr>
      </p:sp>
      <p:sp>
        <p:nvSpPr>
          <p:cNvPr id="15" name="Text 13"/>
          <p:cNvSpPr/>
          <p:nvPr/>
        </p:nvSpPr>
        <p:spPr>
          <a:xfrm>
            <a:off x="5486400" y="3236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5943600" y="3182112"/>
            <a:ext cx="2926080" cy="475488"/>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Clauses are injected into the guest_token/ request payload</a:t>
            </a:r>
            <a:endParaRPr lang="en-US" sz="1050" dirty="0"/>
          </a:p>
        </p:txBody>
      </p:sp>
      <p:sp>
        <p:nvSpPr>
          <p:cNvPr id="17" name="Shape 15"/>
          <p:cNvSpPr/>
          <p:nvPr/>
        </p:nvSpPr>
        <p:spPr>
          <a:xfrm>
            <a:off x="5486400" y="3831336"/>
            <a:ext cx="347472" cy="347472"/>
          </a:xfrm>
          <a:prstGeom prst="ellipse">
            <a:avLst/>
          </a:prstGeom>
          <a:solidFill>
            <a:srgbClr val="F59E0B"/>
          </a:solidFill>
          <a:ln w="12700">
            <a:solidFill>
              <a:srgbClr val="F59E0B"/>
            </a:solidFill>
            <a:prstDash val="solid"/>
          </a:ln>
        </p:spPr>
      </p:sp>
      <p:sp>
        <p:nvSpPr>
          <p:cNvPr id="18" name="Text 16"/>
          <p:cNvSpPr/>
          <p:nvPr/>
        </p:nvSpPr>
        <p:spPr>
          <a:xfrm>
            <a:off x="5486400" y="38313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5943600" y="3776472"/>
            <a:ext cx="2926080" cy="475488"/>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Superset appends the clauses as WHERE to every SQL query</a:t>
            </a:r>
            <a:endParaRPr lang="en-US" sz="1050" dirty="0"/>
          </a:p>
        </p:txBody>
      </p:sp>
      <p:sp>
        <p:nvSpPr>
          <p:cNvPr id="20" name="Shape 18"/>
          <p:cNvSpPr/>
          <p:nvPr/>
        </p:nvSpPr>
        <p:spPr>
          <a:xfrm>
            <a:off x="5486400" y="4370832"/>
            <a:ext cx="3383280" cy="566928"/>
          </a:xfrm>
          <a:prstGeom prst="rect">
            <a:avLst/>
          </a:prstGeom>
          <a:solidFill>
            <a:srgbClr val="0D1117"/>
          </a:solidFill>
          <a:ln w="12700">
            <a:solidFill>
              <a:srgbClr val="30363D"/>
            </a:solidFill>
            <a:prstDash val="solid"/>
          </a:ln>
        </p:spPr>
      </p:sp>
      <p:sp>
        <p:nvSpPr>
          <p:cNvPr id="21" name="Text 19"/>
          <p:cNvSpPr/>
          <p:nvPr/>
        </p:nvSpPr>
        <p:spPr>
          <a:xfrm>
            <a:off x="5577840" y="4407408"/>
            <a:ext cx="3200400" cy="475488"/>
          </a:xfrm>
          <a:prstGeom prst="rect">
            <a:avLst/>
          </a:prstGeom>
          <a:noFill/>
          <a:ln/>
        </p:spPr>
        <p:txBody>
          <a:bodyPr wrap="square" lIns="0" tIns="0" rIns="0" bIns="0" rtlCol="0" anchor="t"/>
          <a:lstStyle/>
          <a:p>
            <a:pPr indent="0" marL="0">
              <a:buNone/>
            </a:pPr>
            <a:r>
              <a:rPr lang="en-US" sz="900" dirty="0">
                <a:solidFill>
                  <a:srgbClr val="C9D1D9"/>
                </a:solidFill>
                <a:latin typeface="Courier New" pitchFamily="34" charset="0"/>
                <a:ea typeface="Courier New" pitchFamily="34" charset="-122"/>
                <a:cs typeface="Courier New" pitchFamily="34" charset="-120"/>
              </a:rPr>
              <a:t>SELECT region, SUM(revenue) FROM sales
</a:t>
            </a:r>
            <a:pPr indent="0" marL="0">
              <a:buNone/>
            </a:pPr>
            <a:r>
              <a:rPr lang="en-US" sz="900" dirty="0">
                <a:solidFill>
                  <a:srgbClr val="8B949E"/>
                </a:solidFill>
                <a:latin typeface="Courier New" pitchFamily="34" charset="0"/>
                <a:ea typeface="Courier New" pitchFamily="34" charset="-122"/>
                <a:cs typeface="Courier New" pitchFamily="34" charset="-120"/>
              </a:rPr>
              <a:t>WHERE region = 'North'  </a:t>
            </a:r>
            <a:pPr indent="0" marL="0">
              <a:buNone/>
            </a:pPr>
            <a:r>
              <a:rPr lang="en-US" sz="900" dirty="0">
                <a:solidFill>
                  <a:srgbClr val="3FB950"/>
                </a:solidFill>
                <a:latin typeface="Courier New" pitchFamily="34" charset="0"/>
                <a:ea typeface="Courier New" pitchFamily="34" charset="-122"/>
                <a:cs typeface="Courier New" pitchFamily="34" charset="-120"/>
              </a:rPr>
              <a:t>-- appended by Superset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Caching and Data Freshness</a:t>
            </a:r>
            <a:endParaRPr lang="en-US" sz="2400" dirty="0"/>
          </a:p>
        </p:txBody>
      </p:sp>
      <p:sp>
        <p:nvSpPr>
          <p:cNvPr id="4" name="Text 2"/>
          <p:cNvSpPr/>
          <p:nvPr/>
        </p:nvSpPr>
        <p:spPr>
          <a:xfrm>
            <a:off x="365760" y="822960"/>
            <a:ext cx="39319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Query Flow</a:t>
            </a:r>
            <a:endParaRPr lang="en-US" sz="1300" dirty="0"/>
          </a:p>
        </p:txBody>
      </p:sp>
      <p:sp>
        <p:nvSpPr>
          <p:cNvPr id="5" name="Shape 3"/>
          <p:cNvSpPr/>
          <p:nvPr/>
        </p:nvSpPr>
        <p:spPr>
          <a:xfrm>
            <a:off x="274320" y="1234440"/>
            <a:ext cx="3931920" cy="475488"/>
          </a:xfrm>
          <a:prstGeom prst="rect">
            <a:avLst/>
          </a:prstGeom>
          <a:solidFill>
            <a:srgbClr val="6366F1"/>
          </a:solidFill>
          <a:ln w="12700">
            <a:solidFill>
              <a:srgbClr val="6366F1"/>
            </a:solidFill>
            <a:prstDash val="solid"/>
          </a:ln>
        </p:spPr>
      </p:sp>
      <p:sp>
        <p:nvSpPr>
          <p:cNvPr id="6" name="Text 4"/>
          <p:cNvSpPr/>
          <p:nvPr/>
        </p:nvSpPr>
        <p:spPr>
          <a:xfrm>
            <a:off x="274320" y="1234440"/>
            <a:ext cx="393192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 opens embedded dashboard</a:t>
            </a:r>
            <a:endParaRPr lang="en-US" sz="1150" dirty="0"/>
          </a:p>
        </p:txBody>
      </p:sp>
      <p:sp>
        <p:nvSpPr>
          <p:cNvPr id="7" name="Shape 5"/>
          <p:cNvSpPr/>
          <p:nvPr/>
        </p:nvSpPr>
        <p:spPr>
          <a:xfrm>
            <a:off x="2240280" y="1709928"/>
            <a:ext cx="0" cy="301752"/>
          </a:xfrm>
          <a:prstGeom prst="line">
            <a:avLst/>
          </a:prstGeom>
          <a:noFill/>
          <a:ln w="25400">
            <a:solidFill>
              <a:srgbClr val="94A3B8"/>
            </a:solidFill>
            <a:prstDash val="solid"/>
          </a:ln>
        </p:spPr>
      </p:sp>
      <p:sp>
        <p:nvSpPr>
          <p:cNvPr id="8" name="Shape 6"/>
          <p:cNvSpPr/>
          <p:nvPr/>
        </p:nvSpPr>
        <p:spPr>
          <a:xfrm>
            <a:off x="274320" y="2011680"/>
            <a:ext cx="3931920" cy="475488"/>
          </a:xfrm>
          <a:prstGeom prst="rect">
            <a:avLst/>
          </a:prstGeom>
          <a:solidFill>
            <a:srgbClr val="DC382D"/>
          </a:solidFill>
          <a:ln w="12700">
            <a:solidFill>
              <a:srgbClr val="DC382D"/>
            </a:solidFill>
            <a:prstDash val="solid"/>
          </a:ln>
        </p:spPr>
      </p:sp>
      <p:sp>
        <p:nvSpPr>
          <p:cNvPr id="9" name="Text 7"/>
          <p:cNvSpPr/>
          <p:nvPr/>
        </p:nvSpPr>
        <p:spPr>
          <a:xfrm>
            <a:off x="274320" y="2011680"/>
            <a:ext cx="393192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Superset checks Redis cache for this query</a:t>
            </a:r>
            <a:endParaRPr lang="en-US" sz="1100" dirty="0"/>
          </a:p>
        </p:txBody>
      </p:sp>
      <p:sp>
        <p:nvSpPr>
          <p:cNvPr id="10" name="Shape 8"/>
          <p:cNvSpPr/>
          <p:nvPr/>
        </p:nvSpPr>
        <p:spPr>
          <a:xfrm>
            <a:off x="1005840" y="2487168"/>
            <a:ext cx="0" cy="301752"/>
          </a:xfrm>
          <a:prstGeom prst="line">
            <a:avLst/>
          </a:prstGeom>
          <a:noFill/>
          <a:ln w="19050">
            <a:solidFill>
              <a:srgbClr val="10B981"/>
            </a:solidFill>
            <a:prstDash val="solid"/>
          </a:ln>
        </p:spPr>
      </p:sp>
      <p:sp>
        <p:nvSpPr>
          <p:cNvPr id="11" name="Shape 9"/>
          <p:cNvSpPr/>
          <p:nvPr/>
        </p:nvSpPr>
        <p:spPr>
          <a:xfrm>
            <a:off x="274320" y="2788920"/>
            <a:ext cx="1508760" cy="475488"/>
          </a:xfrm>
          <a:prstGeom prst="rect">
            <a:avLst/>
          </a:prstGeom>
          <a:solidFill>
            <a:srgbClr val="10B981"/>
          </a:solidFill>
          <a:ln w="12700">
            <a:solidFill>
              <a:srgbClr val="10B981"/>
            </a:solidFill>
            <a:prstDash val="solid"/>
          </a:ln>
        </p:spPr>
      </p:sp>
      <p:sp>
        <p:nvSpPr>
          <p:cNvPr id="12" name="Text 10"/>
          <p:cNvSpPr/>
          <p:nvPr/>
        </p:nvSpPr>
        <p:spPr>
          <a:xfrm>
            <a:off x="274320" y="2788920"/>
            <a:ext cx="1508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HIT</a:t>
            </a:r>
            <a:endParaRPr lang="en-US" sz="1300" dirty="0"/>
          </a:p>
        </p:txBody>
      </p:sp>
      <p:sp>
        <p:nvSpPr>
          <p:cNvPr id="13" name="Text 11"/>
          <p:cNvSpPr/>
          <p:nvPr/>
        </p:nvSpPr>
        <p:spPr>
          <a:xfrm>
            <a:off x="274320" y="3291840"/>
            <a:ext cx="1508760" cy="54864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Return cached result.</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No database query.</a:t>
            </a:r>
            <a:endParaRPr lang="en-US" sz="950" dirty="0"/>
          </a:p>
        </p:txBody>
      </p:sp>
      <p:sp>
        <p:nvSpPr>
          <p:cNvPr id="14" name="Shape 12"/>
          <p:cNvSpPr/>
          <p:nvPr/>
        </p:nvSpPr>
        <p:spPr>
          <a:xfrm>
            <a:off x="3063240" y="2487168"/>
            <a:ext cx="0" cy="301752"/>
          </a:xfrm>
          <a:prstGeom prst="line">
            <a:avLst/>
          </a:prstGeom>
          <a:noFill/>
          <a:ln w="19050">
            <a:solidFill>
              <a:srgbClr val="F59E0B"/>
            </a:solidFill>
            <a:prstDash val="solid"/>
          </a:ln>
        </p:spPr>
      </p:sp>
      <p:sp>
        <p:nvSpPr>
          <p:cNvPr id="15" name="Shape 13"/>
          <p:cNvSpPr/>
          <p:nvPr/>
        </p:nvSpPr>
        <p:spPr>
          <a:xfrm>
            <a:off x="2377440" y="2788920"/>
            <a:ext cx="1828800" cy="475488"/>
          </a:xfrm>
          <a:prstGeom prst="rect">
            <a:avLst/>
          </a:prstGeom>
          <a:solidFill>
            <a:srgbClr val="F59E0B"/>
          </a:solidFill>
          <a:ln w="12700">
            <a:solidFill>
              <a:srgbClr val="F59E0B"/>
            </a:solidFill>
            <a:prstDash val="solid"/>
          </a:ln>
        </p:spPr>
      </p:sp>
      <p:sp>
        <p:nvSpPr>
          <p:cNvPr id="16" name="Text 14"/>
          <p:cNvSpPr/>
          <p:nvPr/>
        </p:nvSpPr>
        <p:spPr>
          <a:xfrm>
            <a:off x="2377440" y="2788920"/>
            <a:ext cx="18288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MISS</a:t>
            </a:r>
            <a:endParaRPr lang="en-US" sz="1300" dirty="0"/>
          </a:p>
        </p:txBody>
      </p:sp>
      <p:sp>
        <p:nvSpPr>
          <p:cNvPr id="17" name="Text 15"/>
          <p:cNvSpPr/>
          <p:nvPr/>
        </p:nvSpPr>
        <p:spPr>
          <a:xfrm>
            <a:off x="2377440" y="3291840"/>
            <a:ext cx="1828800" cy="54864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Run SELECT against</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Postgres, cache result.</a:t>
            </a:r>
            <a:endParaRPr lang="en-US" sz="950" dirty="0"/>
          </a:p>
        </p:txBody>
      </p:sp>
      <p:sp>
        <p:nvSpPr>
          <p:cNvPr id="18" name="Text 16"/>
          <p:cNvSpPr/>
          <p:nvPr/>
        </p:nvSpPr>
        <p:spPr>
          <a:xfrm>
            <a:off x="4572000" y="822960"/>
            <a:ext cx="429768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Current State</a:t>
            </a:r>
            <a:endParaRPr lang="en-US" sz="1300" dirty="0"/>
          </a:p>
        </p:txBody>
      </p:sp>
      <p:sp>
        <p:nvSpPr>
          <p:cNvPr id="19" name="Shape 17"/>
          <p:cNvSpPr/>
          <p:nvPr/>
        </p:nvSpPr>
        <p:spPr>
          <a:xfrm>
            <a:off x="4572000" y="1207008"/>
            <a:ext cx="4297680" cy="777240"/>
          </a:xfrm>
          <a:prstGeom prst="rect">
            <a:avLst/>
          </a:prstGeom>
          <a:solidFill>
            <a:srgbClr val="FEF3C7"/>
          </a:solidFill>
          <a:ln w="12700">
            <a:solidFill>
              <a:srgbClr val="FDE68A"/>
            </a:solidFill>
            <a:prstDash val="solid"/>
          </a:ln>
        </p:spPr>
      </p:sp>
      <p:sp>
        <p:nvSpPr>
          <p:cNvPr id="20" name="Text 18"/>
          <p:cNvSpPr/>
          <p:nvPr/>
        </p:nvSpPr>
        <p:spPr>
          <a:xfrm>
            <a:off x="4709160" y="1252728"/>
            <a:ext cx="4069080" cy="685800"/>
          </a:xfrm>
          <a:prstGeom prst="rect">
            <a:avLst/>
          </a:prstGeom>
          <a:noFill/>
          <a:ln/>
        </p:spPr>
        <p:txBody>
          <a:bodyPr wrap="square" lIns="0" tIns="0" rIns="0" bIns="0" rtlCol="0" anchor="ctr"/>
          <a:lstStyle/>
          <a:p>
            <a:pPr algn="l" indent="0" marL="0">
              <a:buNone/>
            </a:pPr>
            <a:r>
              <a:rPr lang="en-US" sz="1000" dirty="0">
                <a:solidFill>
                  <a:srgbClr val="92400E"/>
                </a:solidFill>
                <a:latin typeface="Calibri" pitchFamily="34" charset="0"/>
                <a:ea typeface="Calibri" pitchFamily="34" charset="-122"/>
                <a:cs typeface="Calibri" pitchFamily="34" charset="-120"/>
              </a:rPr>
              <a:t>Redis is running but DATA_CACHE_CONFIG is not set in superset_config.py. Superset falls back to an in-memory cache that is lost on container restart. Every restart queries Postgres fresh.</a:t>
            </a:r>
            <a:endParaRPr lang="en-US" sz="1000" dirty="0"/>
          </a:p>
        </p:txBody>
      </p:sp>
      <p:sp>
        <p:nvSpPr>
          <p:cNvPr id="21" name="Text 19"/>
          <p:cNvSpPr/>
          <p:nvPr/>
        </p:nvSpPr>
        <p:spPr>
          <a:xfrm>
            <a:off x="4572000" y="2103120"/>
            <a:ext cx="429768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Enable Redis Cache (add to superset_config.py)</a:t>
            </a:r>
            <a:endParaRPr lang="en-US" sz="1200" dirty="0"/>
          </a:p>
        </p:txBody>
      </p:sp>
      <p:sp>
        <p:nvSpPr>
          <p:cNvPr id="22" name="Shape 20"/>
          <p:cNvSpPr/>
          <p:nvPr/>
        </p:nvSpPr>
        <p:spPr>
          <a:xfrm>
            <a:off x="4572000" y="2487168"/>
            <a:ext cx="4297680" cy="1737360"/>
          </a:xfrm>
          <a:prstGeom prst="rect">
            <a:avLst/>
          </a:prstGeom>
          <a:solidFill>
            <a:srgbClr val="0D1117"/>
          </a:solidFill>
          <a:ln w="12700">
            <a:solidFill>
              <a:srgbClr val="30363D"/>
            </a:solidFill>
            <a:prstDash val="solid"/>
          </a:ln>
        </p:spPr>
      </p:sp>
      <p:sp>
        <p:nvSpPr>
          <p:cNvPr id="23" name="Text 21"/>
          <p:cNvSpPr/>
          <p:nvPr/>
        </p:nvSpPr>
        <p:spPr>
          <a:xfrm>
            <a:off x="4709160" y="2578608"/>
            <a:ext cx="4069080" cy="1508760"/>
          </a:xfrm>
          <a:prstGeom prst="rect">
            <a:avLst/>
          </a:prstGeom>
          <a:noFill/>
          <a:ln/>
        </p:spPr>
        <p:txBody>
          <a:bodyPr wrap="square" lIns="0" tIns="0" rIns="0" bIns="0" rtlCol="0" anchor="t"/>
          <a:lstStyle/>
          <a:p>
            <a:pPr indent="0" marL="0">
              <a:buNone/>
            </a:pPr>
            <a:r>
              <a:rPr lang="en-US" sz="950" dirty="0">
                <a:solidFill>
                  <a:srgbClr val="C9D1D9"/>
                </a:solidFill>
                <a:latin typeface="Courier New" pitchFamily="34" charset="0"/>
                <a:ea typeface="Courier New" pitchFamily="34" charset="-122"/>
                <a:cs typeface="Courier New" pitchFamily="34" charset="-120"/>
              </a:rPr>
              <a:t>DATA_CACHE_CONFIG = {
</a:t>
            </a:r>
            <a:pPr indent="0" marL="0">
              <a:buNone/>
            </a:pPr>
            <a:r>
              <a:rPr lang="en-US" sz="950" dirty="0">
                <a:solidFill>
                  <a:srgbClr val="A5D6FF"/>
                </a:solidFill>
                <a:latin typeface="Courier New" pitchFamily="34" charset="0"/>
                <a:ea typeface="Courier New" pitchFamily="34" charset="-122"/>
                <a:cs typeface="Courier New" pitchFamily="34" charset="-120"/>
              </a:rPr>
              <a:t>  "CACHE_TYPE": "RedisCache",
</a:t>
            </a:r>
            <a:pPr indent="0" marL="0">
              <a:buNone/>
            </a:pPr>
            <a:r>
              <a:rPr lang="en-US" sz="950" dirty="0">
                <a:solidFill>
                  <a:srgbClr val="A5D6FF"/>
                </a:solidFill>
                <a:latin typeface="Courier New" pitchFamily="34" charset="0"/>
                <a:ea typeface="Courier New" pitchFamily="34" charset="-122"/>
                <a:cs typeface="Courier New" pitchFamily="34" charset="-120"/>
              </a:rPr>
              <a:t>  "CACHE_DEFAULT_TIMEOUT": 300,  # 5 min
</a:t>
            </a:r>
            <a:pPr indent="0" marL="0">
              <a:buNone/>
            </a:pPr>
            <a:r>
              <a:rPr lang="en-US" sz="950" dirty="0">
                <a:solidFill>
                  <a:srgbClr val="A5D6FF"/>
                </a:solidFill>
                <a:latin typeface="Courier New" pitchFamily="34" charset="0"/>
                <a:ea typeface="Courier New" pitchFamily="34" charset="-122"/>
                <a:cs typeface="Courier New" pitchFamily="34" charset="-120"/>
              </a:rPr>
              <a:t>  "CACHE_KEY_PREFIX": "superset_data_",
</a:t>
            </a:r>
            <a:pPr indent="0" marL="0">
              <a:buNone/>
            </a:pPr>
            <a:r>
              <a:rPr lang="en-US" sz="950" dirty="0">
                <a:solidFill>
                  <a:srgbClr val="A5D6FF"/>
                </a:solidFill>
                <a:latin typeface="Courier New" pitchFamily="34" charset="0"/>
                <a:ea typeface="Courier New" pitchFamily="34" charset="-122"/>
                <a:cs typeface="Courier New" pitchFamily="34" charset="-120"/>
              </a:rPr>
              <a:t>  "CACHE_REDIS_URL": "redis://redis:6379/0",
</a:t>
            </a:r>
            <a:pPr indent="0" marL="0">
              <a:buNone/>
            </a:pPr>
            <a:r>
              <a:rPr lang="en-US" sz="950" dirty="0">
                <a:solidFill>
                  <a:srgbClr val="C9D1D9"/>
                </a:solidFill>
                <a:latin typeface="Courier New" pitchFamily="34" charset="0"/>
                <a:ea typeface="Courier New" pitchFamily="34" charset="-122"/>
                <a:cs typeface="Courier New" pitchFamily="34" charset="-120"/>
              </a:rPr>
              <a:t>}</a:t>
            </a:r>
            <a:endParaRPr lang="en-US" sz="950" dirty="0"/>
          </a:p>
        </p:txBody>
      </p:sp>
      <p:sp>
        <p:nvSpPr>
          <p:cNvPr id="24" name="Text 22"/>
          <p:cNvSpPr/>
          <p:nvPr/>
        </p:nvSpPr>
        <p:spPr>
          <a:xfrm>
            <a:off x="4572000" y="4315968"/>
            <a:ext cx="4297680" cy="502920"/>
          </a:xfrm>
          <a:prstGeom prst="rect">
            <a:avLst/>
          </a:prstGeom>
          <a:noFill/>
          <a:ln/>
        </p:spPr>
        <p:txBody>
          <a:bodyPr wrap="square" lIns="0" tIns="0" rIns="0" bIns="0"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Auto-refresh: Dashboard &gt; ... menu &gt; Set auto-refresh interval (10s / 30s / 1min). Re-runs the query on the chosen interval with no user interaction.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Key Design Decisions</a:t>
            </a:r>
            <a:endParaRPr lang="en-US" sz="2400" dirty="0"/>
          </a:p>
        </p:txBody>
      </p:sp>
      <p:sp>
        <p:nvSpPr>
          <p:cNvPr id="4" name="Shape 2"/>
          <p:cNvSpPr/>
          <p:nvPr/>
        </p:nvSpPr>
        <p:spPr>
          <a:xfrm>
            <a:off x="274320" y="850392"/>
            <a:ext cx="109728" cy="914400"/>
          </a:xfrm>
          <a:prstGeom prst="rect">
            <a:avLst/>
          </a:prstGeom>
          <a:solidFill>
            <a:srgbClr val="6366F1"/>
          </a:solidFill>
          <a:ln w="12700">
            <a:solidFill>
              <a:srgbClr val="6366F1"/>
            </a:solidFill>
            <a:prstDash val="solid"/>
          </a:ln>
        </p:spPr>
      </p:sp>
      <p:sp>
        <p:nvSpPr>
          <p:cNvPr id="5" name="Text 3"/>
          <p:cNvSpPr/>
          <p:nvPr/>
        </p:nvSpPr>
        <p:spPr>
          <a:xfrm>
            <a:off x="530352" y="850392"/>
            <a:ext cx="8321040" cy="347472"/>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Why a Go backend instead of calling Superset directly from the frontend?</a:t>
            </a:r>
            <a:endParaRPr lang="en-US" sz="1250" dirty="0"/>
          </a:p>
        </p:txBody>
      </p:sp>
      <p:sp>
        <p:nvSpPr>
          <p:cNvPr id="6" name="Text 4"/>
          <p:cNvSpPr/>
          <p:nvPr/>
        </p:nvSpPr>
        <p:spPr>
          <a:xfrm>
            <a:off x="530352" y="1234440"/>
            <a:ext cx="8321040" cy="566928"/>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Generating a guest token requires Superset admin credentials (username + password). Those must never be sent to the browser. The Go backend is the only service that holds them, computes RLS rules, and forwards a short-lived token instead.</a:t>
            </a:r>
            <a:endParaRPr lang="en-US" sz="1050" dirty="0"/>
          </a:p>
        </p:txBody>
      </p:sp>
      <p:sp>
        <p:nvSpPr>
          <p:cNvPr id="7" name="Shape 5"/>
          <p:cNvSpPr/>
          <p:nvPr/>
        </p:nvSpPr>
        <p:spPr>
          <a:xfrm>
            <a:off x="274320" y="1874520"/>
            <a:ext cx="109728" cy="914400"/>
          </a:xfrm>
          <a:prstGeom prst="rect">
            <a:avLst/>
          </a:prstGeom>
          <a:solidFill>
            <a:srgbClr val="00ACD7"/>
          </a:solidFill>
          <a:ln w="12700">
            <a:solidFill>
              <a:srgbClr val="00ACD7"/>
            </a:solidFill>
            <a:prstDash val="solid"/>
          </a:ln>
        </p:spPr>
      </p:sp>
      <p:sp>
        <p:nvSpPr>
          <p:cNvPr id="8" name="Text 6"/>
          <p:cNvSpPr/>
          <p:nvPr/>
        </p:nvSpPr>
        <p:spPr>
          <a:xfrm>
            <a:off x="530352" y="1874520"/>
            <a:ext cx="8321040" cy="347472"/>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Why does the iframe talk directly to Superset instead of being proxied through Go?</a:t>
            </a:r>
            <a:endParaRPr lang="en-US" sz="1250" dirty="0"/>
          </a:p>
        </p:txBody>
      </p:sp>
      <p:sp>
        <p:nvSpPr>
          <p:cNvPr id="9" name="Text 7"/>
          <p:cNvSpPr/>
          <p:nvPr/>
        </p:nvSpPr>
        <p:spPr>
          <a:xfrm>
            <a:off x="530352" y="2258568"/>
            <a:ext cx="8321040" cy="566928"/>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After the guest JWT is issued, the browser loads the Superset iframe directly (http://localhost:8088/embedded/&lt;uuid&gt;). The JWT already carries all access-control rules. Routing iframe traffic through Go would add latency with no security gain.</a:t>
            </a:r>
            <a:endParaRPr lang="en-US" sz="1050" dirty="0"/>
          </a:p>
        </p:txBody>
      </p:sp>
      <p:sp>
        <p:nvSpPr>
          <p:cNvPr id="10" name="Shape 8"/>
          <p:cNvSpPr/>
          <p:nvPr/>
        </p:nvSpPr>
        <p:spPr>
          <a:xfrm>
            <a:off x="274320" y="2898648"/>
            <a:ext cx="109728" cy="914400"/>
          </a:xfrm>
          <a:prstGeom prst="rect">
            <a:avLst/>
          </a:prstGeom>
          <a:solidFill>
            <a:srgbClr val="10B981"/>
          </a:solidFill>
          <a:ln w="12700">
            <a:solidFill>
              <a:srgbClr val="10B981"/>
            </a:solidFill>
            <a:prstDash val="solid"/>
          </a:ln>
        </p:spPr>
      </p:sp>
      <p:sp>
        <p:nvSpPr>
          <p:cNvPr id="11" name="Text 9"/>
          <p:cNvSpPr/>
          <p:nvPr/>
        </p:nvSpPr>
        <p:spPr>
          <a:xfrm>
            <a:off x="530352" y="2898648"/>
            <a:ext cx="8321040" cy="347472"/>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Why is ENABLE_CORS set to False in Superset?</a:t>
            </a:r>
            <a:endParaRPr lang="en-US" sz="1250" dirty="0"/>
          </a:p>
        </p:txBody>
      </p:sp>
      <p:sp>
        <p:nvSpPr>
          <p:cNvPr id="12" name="Text 10"/>
          <p:cNvSpPr/>
          <p:nvPr/>
        </p:nvSpPr>
        <p:spPr>
          <a:xfrm>
            <a:off x="530352" y="3282696"/>
            <a:ext cx="8321040" cy="566928"/>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The flask-cors package is not bundled in the apache/superset base image. CORS for the /api/guest-token endpoint is handled entirely by the Go backend. The iframe itself does not require CORS headers because it is loaded as a first-party origin.</a:t>
            </a:r>
            <a:endParaRPr lang="en-US" sz="1050" dirty="0"/>
          </a:p>
        </p:txBody>
      </p:sp>
      <p:sp>
        <p:nvSpPr>
          <p:cNvPr id="13" name="Shape 11"/>
          <p:cNvSpPr/>
          <p:nvPr/>
        </p:nvSpPr>
        <p:spPr>
          <a:xfrm>
            <a:off x="274320" y="3922776"/>
            <a:ext cx="109728" cy="914400"/>
          </a:xfrm>
          <a:prstGeom prst="rect">
            <a:avLst/>
          </a:prstGeom>
          <a:solidFill>
            <a:srgbClr val="F59E0B"/>
          </a:solidFill>
          <a:ln w="12700">
            <a:solidFill>
              <a:srgbClr val="F59E0B"/>
            </a:solidFill>
            <a:prstDash val="solid"/>
          </a:ln>
        </p:spPr>
      </p:sp>
      <p:sp>
        <p:nvSpPr>
          <p:cNvPr id="14" name="Text 12"/>
          <p:cNvSpPr/>
          <p:nvPr/>
        </p:nvSpPr>
        <p:spPr>
          <a:xfrm>
            <a:off x="530352" y="3922776"/>
            <a:ext cx="8321040" cy="347472"/>
          </a:xfrm>
          <a:prstGeom prst="rect">
            <a:avLst/>
          </a:prstGeom>
          <a:noFill/>
          <a:ln/>
        </p:spPr>
        <p:txBody>
          <a:bodyPr wrap="square" lIns="0" tIns="0" rIns="0" bIns="0" rtlCol="0" anchor="ctr"/>
          <a:lstStyle/>
          <a:p>
            <a:pPr algn="l" indent="0" marL="0">
              <a:buNone/>
            </a:pPr>
            <a:r>
              <a:rPr lang="en-US" sz="1250" b="1" dirty="0">
                <a:solidFill>
                  <a:srgbClr val="1E293B"/>
                </a:solidFill>
                <a:latin typeface="Calibri" pitchFamily="34" charset="0"/>
                <a:ea typeface="Calibri" pitchFamily="34" charset="-122"/>
                <a:cs typeface="Calibri" pitchFamily="34" charset="-120"/>
              </a:rPr>
              <a:t>Why use dynamic import for @superset-ui/embedded-sdk?</a:t>
            </a:r>
            <a:endParaRPr lang="en-US" sz="1250" dirty="0"/>
          </a:p>
        </p:txBody>
      </p:sp>
      <p:sp>
        <p:nvSpPr>
          <p:cNvPr id="15" name="Text 13"/>
          <p:cNvSpPr/>
          <p:nvPr/>
        </p:nvSpPr>
        <p:spPr>
          <a:xfrm>
            <a:off x="530352" y="4306824"/>
            <a:ext cx="8321040" cy="566928"/>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SvelteKit runs server-side rendering during the build. The SDK is a CommonJS module that references browser globals (window, document). A static top-level import is evaluated during SSR and crashes immediately. Dynamic import inside onMount defers execution until the browser.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E293B"/>
          </a:solidFill>
          <a:ln w="12700">
            <a:solidFill>
              <a:srgbClr val="1E293B"/>
            </a:solidFill>
            <a:prstDash val="solid"/>
          </a:ln>
        </p:spPr>
      </p:sp>
      <p:sp>
        <p:nvSpPr>
          <p:cNvPr id="3" name="Text 1"/>
          <p:cNvSpPr/>
          <p:nvPr/>
        </p:nvSpPr>
        <p:spPr>
          <a:xfrm>
            <a:off x="365760" y="0"/>
            <a:ext cx="8229600"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Project Summary</a:t>
            </a:r>
            <a:endParaRPr lang="en-US" sz="2400" dirty="0"/>
          </a:p>
        </p:txBody>
      </p:sp>
      <p:sp>
        <p:nvSpPr>
          <p:cNvPr id="4" name="Shape 2"/>
          <p:cNvSpPr/>
          <p:nvPr/>
        </p:nvSpPr>
        <p:spPr>
          <a:xfrm>
            <a:off x="256032" y="841248"/>
            <a:ext cx="2697480" cy="1463040"/>
          </a:xfrm>
          <a:prstGeom prst="rect">
            <a:avLst/>
          </a:prstGeom>
          <a:solidFill>
            <a:srgbClr val="1E293B"/>
          </a:solidFill>
          <a:ln w="12700">
            <a:solidFill>
              <a:srgbClr val="334155"/>
            </a:solidFill>
            <a:prstDash val="solid"/>
          </a:ln>
        </p:spPr>
      </p:sp>
      <p:sp>
        <p:nvSpPr>
          <p:cNvPr id="5" name="Shape 3"/>
          <p:cNvSpPr/>
          <p:nvPr/>
        </p:nvSpPr>
        <p:spPr>
          <a:xfrm>
            <a:off x="256032" y="841248"/>
            <a:ext cx="2697480" cy="164592"/>
          </a:xfrm>
          <a:prstGeom prst="rect">
            <a:avLst/>
          </a:prstGeom>
          <a:solidFill>
            <a:srgbClr val="00ACD7"/>
          </a:solidFill>
          <a:ln w="12700">
            <a:solidFill>
              <a:srgbClr val="00ACD7"/>
            </a:solidFill>
            <a:prstDash val="solid"/>
          </a:ln>
        </p:spPr>
      </p:sp>
      <p:sp>
        <p:nvSpPr>
          <p:cNvPr id="6" name="Text 4"/>
          <p:cNvSpPr/>
          <p:nvPr/>
        </p:nvSpPr>
        <p:spPr>
          <a:xfrm>
            <a:off x="393192" y="1060704"/>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Go Token Proxy</a:t>
            </a:r>
            <a:endParaRPr lang="en-US" sz="1250" dirty="0"/>
          </a:p>
        </p:txBody>
      </p:sp>
      <p:sp>
        <p:nvSpPr>
          <p:cNvPr id="7" name="Text 5"/>
          <p:cNvSpPr/>
          <p:nvPr/>
        </p:nvSpPr>
        <p:spPr>
          <a:xfrm>
            <a:off x="393192" y="1444752"/>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The Go backend authenticates with Superset server-side, caches tokens, and hands short-lived guest JWTs to the browser. Admin credentials never leave the server.</a:t>
            </a:r>
            <a:endParaRPr lang="en-US" sz="950" dirty="0"/>
          </a:p>
        </p:txBody>
      </p:sp>
      <p:sp>
        <p:nvSpPr>
          <p:cNvPr id="8" name="Shape 6"/>
          <p:cNvSpPr/>
          <p:nvPr/>
        </p:nvSpPr>
        <p:spPr>
          <a:xfrm>
            <a:off x="3118104" y="841248"/>
            <a:ext cx="2697480" cy="1463040"/>
          </a:xfrm>
          <a:prstGeom prst="rect">
            <a:avLst/>
          </a:prstGeom>
          <a:solidFill>
            <a:srgbClr val="1E293B"/>
          </a:solidFill>
          <a:ln w="12700">
            <a:solidFill>
              <a:srgbClr val="334155"/>
            </a:solidFill>
            <a:prstDash val="solid"/>
          </a:ln>
        </p:spPr>
      </p:sp>
      <p:sp>
        <p:nvSpPr>
          <p:cNvPr id="9" name="Shape 7"/>
          <p:cNvSpPr/>
          <p:nvPr/>
        </p:nvSpPr>
        <p:spPr>
          <a:xfrm>
            <a:off x="3118104" y="841248"/>
            <a:ext cx="2697480" cy="164592"/>
          </a:xfrm>
          <a:prstGeom prst="rect">
            <a:avLst/>
          </a:prstGeom>
          <a:solidFill>
            <a:srgbClr val="FF3E00"/>
          </a:solidFill>
          <a:ln w="12700">
            <a:solidFill>
              <a:srgbClr val="FF3E00"/>
            </a:solidFill>
            <a:prstDash val="solid"/>
          </a:ln>
        </p:spPr>
      </p:sp>
      <p:sp>
        <p:nvSpPr>
          <p:cNvPr id="10" name="Text 8"/>
          <p:cNvSpPr/>
          <p:nvPr/>
        </p:nvSpPr>
        <p:spPr>
          <a:xfrm>
            <a:off x="3255264" y="1060704"/>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Svelte Frontend</a:t>
            </a:r>
            <a:endParaRPr lang="en-US" sz="1250" dirty="0"/>
          </a:p>
        </p:txBody>
      </p:sp>
      <p:sp>
        <p:nvSpPr>
          <p:cNvPr id="11" name="Text 9"/>
          <p:cNvSpPr/>
          <p:nvPr/>
        </p:nvSpPr>
        <p:spPr>
          <a:xfrm>
            <a:off x="3255264" y="1444752"/>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SvelteKit page renders KPI cards from its own data and mounts a Superset iframe via the embedded SDK. Dynamic import prevents SSR crashes.</a:t>
            </a:r>
            <a:endParaRPr lang="en-US" sz="950" dirty="0"/>
          </a:p>
        </p:txBody>
      </p:sp>
      <p:sp>
        <p:nvSpPr>
          <p:cNvPr id="12" name="Shape 10"/>
          <p:cNvSpPr/>
          <p:nvPr/>
        </p:nvSpPr>
        <p:spPr>
          <a:xfrm>
            <a:off x="5980176" y="841248"/>
            <a:ext cx="2697480" cy="1463040"/>
          </a:xfrm>
          <a:prstGeom prst="rect">
            <a:avLst/>
          </a:prstGeom>
          <a:solidFill>
            <a:srgbClr val="1E293B"/>
          </a:solidFill>
          <a:ln w="12700">
            <a:solidFill>
              <a:srgbClr val="334155"/>
            </a:solidFill>
            <a:prstDash val="solid"/>
          </a:ln>
        </p:spPr>
      </p:sp>
      <p:sp>
        <p:nvSpPr>
          <p:cNvPr id="13" name="Shape 11"/>
          <p:cNvSpPr/>
          <p:nvPr/>
        </p:nvSpPr>
        <p:spPr>
          <a:xfrm>
            <a:off x="5980176" y="841248"/>
            <a:ext cx="2697480" cy="164592"/>
          </a:xfrm>
          <a:prstGeom prst="rect">
            <a:avLst/>
          </a:prstGeom>
          <a:solidFill>
            <a:srgbClr val="6366F1"/>
          </a:solidFill>
          <a:ln w="12700">
            <a:solidFill>
              <a:srgbClr val="6366F1"/>
            </a:solidFill>
            <a:prstDash val="solid"/>
          </a:ln>
        </p:spPr>
      </p:sp>
      <p:sp>
        <p:nvSpPr>
          <p:cNvPr id="14" name="Text 12"/>
          <p:cNvSpPr/>
          <p:nvPr/>
        </p:nvSpPr>
        <p:spPr>
          <a:xfrm>
            <a:off x="6117336" y="1060704"/>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JWT Security</a:t>
            </a:r>
            <a:endParaRPr lang="en-US" sz="1250" dirty="0"/>
          </a:p>
        </p:txBody>
      </p:sp>
      <p:sp>
        <p:nvSpPr>
          <p:cNvPr id="15" name="Text 13"/>
          <p:cNvSpPr/>
          <p:nvPr/>
        </p:nvSpPr>
        <p:spPr>
          <a:xfrm>
            <a:off x="6117336" y="1444752"/>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The browser only ever receives a 5-minute guest token. The Superset admin username and password are held exclusively by the Go backend.</a:t>
            </a:r>
            <a:endParaRPr lang="en-US" sz="950" dirty="0"/>
          </a:p>
        </p:txBody>
      </p:sp>
      <p:sp>
        <p:nvSpPr>
          <p:cNvPr id="16" name="Shape 14"/>
          <p:cNvSpPr/>
          <p:nvPr/>
        </p:nvSpPr>
        <p:spPr>
          <a:xfrm>
            <a:off x="256032" y="2468880"/>
            <a:ext cx="2697480" cy="1463040"/>
          </a:xfrm>
          <a:prstGeom prst="rect">
            <a:avLst/>
          </a:prstGeom>
          <a:solidFill>
            <a:srgbClr val="1E293B"/>
          </a:solidFill>
          <a:ln w="12700">
            <a:solidFill>
              <a:srgbClr val="334155"/>
            </a:solidFill>
            <a:prstDash val="solid"/>
          </a:ln>
        </p:spPr>
      </p:sp>
      <p:sp>
        <p:nvSpPr>
          <p:cNvPr id="17" name="Shape 15"/>
          <p:cNvSpPr/>
          <p:nvPr/>
        </p:nvSpPr>
        <p:spPr>
          <a:xfrm>
            <a:off x="256032" y="2468880"/>
            <a:ext cx="2697480" cy="164592"/>
          </a:xfrm>
          <a:prstGeom prst="rect">
            <a:avLst/>
          </a:prstGeom>
          <a:solidFill>
            <a:srgbClr val="10B981"/>
          </a:solidFill>
          <a:ln w="12700">
            <a:solidFill>
              <a:srgbClr val="10B981"/>
            </a:solidFill>
            <a:prstDash val="solid"/>
          </a:ln>
        </p:spPr>
      </p:sp>
      <p:sp>
        <p:nvSpPr>
          <p:cNvPr id="18" name="Text 16"/>
          <p:cNvSpPr/>
          <p:nvPr/>
        </p:nvSpPr>
        <p:spPr>
          <a:xfrm>
            <a:off x="393192" y="2688336"/>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RLS Scaffolded</a:t>
            </a:r>
            <a:endParaRPr lang="en-US" sz="1250" dirty="0"/>
          </a:p>
        </p:txBody>
      </p:sp>
      <p:sp>
        <p:nvSpPr>
          <p:cNvPr id="19" name="Text 17"/>
          <p:cNvSpPr/>
          <p:nvPr/>
        </p:nvSpPr>
        <p:spPr>
          <a:xfrm>
            <a:off x="393192" y="3072384"/>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The guest token payload has an rls field ready to receive SQL WHERE clauses. Adding per-user data restrictions requires only user auth middleware in Go.</a:t>
            </a:r>
            <a:endParaRPr lang="en-US" sz="950" dirty="0"/>
          </a:p>
        </p:txBody>
      </p:sp>
      <p:sp>
        <p:nvSpPr>
          <p:cNvPr id="20" name="Shape 18"/>
          <p:cNvSpPr/>
          <p:nvPr/>
        </p:nvSpPr>
        <p:spPr>
          <a:xfrm>
            <a:off x="3118104" y="2468880"/>
            <a:ext cx="2697480" cy="1463040"/>
          </a:xfrm>
          <a:prstGeom prst="rect">
            <a:avLst/>
          </a:prstGeom>
          <a:solidFill>
            <a:srgbClr val="1E293B"/>
          </a:solidFill>
          <a:ln w="12700">
            <a:solidFill>
              <a:srgbClr val="334155"/>
            </a:solidFill>
            <a:prstDash val="solid"/>
          </a:ln>
        </p:spPr>
      </p:sp>
      <p:sp>
        <p:nvSpPr>
          <p:cNvPr id="21" name="Shape 19"/>
          <p:cNvSpPr/>
          <p:nvPr/>
        </p:nvSpPr>
        <p:spPr>
          <a:xfrm>
            <a:off x="3118104" y="2468880"/>
            <a:ext cx="2697480" cy="164592"/>
          </a:xfrm>
          <a:prstGeom prst="rect">
            <a:avLst/>
          </a:prstGeom>
          <a:solidFill>
            <a:srgbClr val="F59E0B"/>
          </a:solidFill>
          <a:ln w="12700">
            <a:solidFill>
              <a:srgbClr val="F59E0B"/>
            </a:solidFill>
            <a:prstDash val="solid"/>
          </a:ln>
        </p:spPr>
      </p:sp>
      <p:sp>
        <p:nvSpPr>
          <p:cNvPr id="22" name="Text 20"/>
          <p:cNvSpPr/>
          <p:nvPr/>
        </p:nvSpPr>
        <p:spPr>
          <a:xfrm>
            <a:off x="3255264" y="2688336"/>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Docker Compose</a:t>
            </a:r>
            <a:endParaRPr lang="en-US" sz="1250" dirty="0"/>
          </a:p>
        </p:txBody>
      </p:sp>
      <p:sp>
        <p:nvSpPr>
          <p:cNvPr id="23" name="Text 21"/>
          <p:cNvSpPr/>
          <p:nvPr/>
        </p:nvSpPr>
        <p:spPr>
          <a:xfrm>
            <a:off x="3255264" y="3072384"/>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All six services (Superset, Go, Svelte, Postgres x2, Redis) start with a single docker compose up -d. A custom Superset image adds psycopg2-binary.</a:t>
            </a:r>
            <a:endParaRPr lang="en-US" sz="950" dirty="0"/>
          </a:p>
        </p:txBody>
      </p:sp>
      <p:sp>
        <p:nvSpPr>
          <p:cNvPr id="24" name="Shape 22"/>
          <p:cNvSpPr/>
          <p:nvPr/>
        </p:nvSpPr>
        <p:spPr>
          <a:xfrm>
            <a:off x="5980176" y="2468880"/>
            <a:ext cx="2697480" cy="1463040"/>
          </a:xfrm>
          <a:prstGeom prst="rect">
            <a:avLst/>
          </a:prstGeom>
          <a:solidFill>
            <a:srgbClr val="1E293B"/>
          </a:solidFill>
          <a:ln w="12700">
            <a:solidFill>
              <a:srgbClr val="334155"/>
            </a:solidFill>
            <a:prstDash val="solid"/>
          </a:ln>
        </p:spPr>
      </p:sp>
      <p:sp>
        <p:nvSpPr>
          <p:cNvPr id="25" name="Shape 23"/>
          <p:cNvSpPr/>
          <p:nvPr/>
        </p:nvSpPr>
        <p:spPr>
          <a:xfrm>
            <a:off x="5980176" y="2468880"/>
            <a:ext cx="2697480" cy="164592"/>
          </a:xfrm>
          <a:prstGeom prst="rect">
            <a:avLst/>
          </a:prstGeom>
          <a:solidFill>
            <a:srgbClr val="DC382D"/>
          </a:solidFill>
          <a:ln w="12700">
            <a:solidFill>
              <a:srgbClr val="DC382D"/>
            </a:solidFill>
            <a:prstDash val="solid"/>
          </a:ln>
        </p:spPr>
      </p:sp>
      <p:sp>
        <p:nvSpPr>
          <p:cNvPr id="26" name="Text 24"/>
          <p:cNvSpPr/>
          <p:nvPr/>
        </p:nvSpPr>
        <p:spPr>
          <a:xfrm>
            <a:off x="6117336" y="2688336"/>
            <a:ext cx="242316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Redis Caching</a:t>
            </a:r>
            <a:endParaRPr lang="en-US" sz="1250" dirty="0"/>
          </a:p>
        </p:txBody>
      </p:sp>
      <p:sp>
        <p:nvSpPr>
          <p:cNvPr id="27" name="Text 25"/>
          <p:cNvSpPr/>
          <p:nvPr/>
        </p:nvSpPr>
        <p:spPr>
          <a:xfrm>
            <a:off x="6117336" y="3072384"/>
            <a:ext cx="2423160" cy="7772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Redis is already running in the stack. Activating query result caching requires adding DATA_CACHE_CONFIG to superset_config.py and restarting the container.</a:t>
            </a:r>
            <a:endParaRPr lang="en-US" sz="950" dirty="0"/>
          </a:p>
        </p:txBody>
      </p:sp>
      <p:sp>
        <p:nvSpPr>
          <p:cNvPr id="28" name="Text 26"/>
          <p:cNvSpPr/>
          <p:nvPr/>
        </p:nvSpPr>
        <p:spPr>
          <a:xfrm>
            <a:off x="457200" y="4754880"/>
            <a:ext cx="8229600" cy="292608"/>
          </a:xfrm>
          <a:prstGeom prst="rect">
            <a:avLst/>
          </a:prstGeom>
          <a:noFill/>
          <a:ln/>
        </p:spPr>
        <p:txBody>
          <a:bodyPr wrap="square" lIns="0" tIns="0" rIns="0" bIns="0" rtlCol="0" anchor="ctr"/>
          <a:lstStyle/>
          <a:p>
            <a:pPr algn="ctr" indent="0" marL="0">
              <a:buNone/>
            </a:pPr>
            <a:r>
              <a:rPr lang="en-US" sz="1100" dirty="0">
                <a:solidFill>
                  <a:srgbClr val="9AA5B4"/>
                </a:solidFill>
                <a:latin typeface="Calibri" pitchFamily="34" charset="0"/>
                <a:ea typeface="Calibri" pitchFamily="34" charset="-122"/>
                <a:cs typeface="Calibri" pitchFamily="34" charset="-120"/>
              </a:rPr>
              <a:t>github.com/yujuism/superset-embed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Superset Embedding: Svelte + Go + JWT</dc:title>
  <dc:subject>PptxGenJS Presentation</dc:subject>
  <dc:creator>PptxGenJS</dc:creator>
  <cp:lastModifiedBy>PptxGenJS</cp:lastModifiedBy>
  <cp:revision>1</cp:revision>
  <dcterms:created xsi:type="dcterms:W3CDTF">2026-06-09T02:13:56Z</dcterms:created>
  <dcterms:modified xsi:type="dcterms:W3CDTF">2026-06-09T02:13:56Z</dcterms:modified>
</cp:coreProperties>
</file>